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06" r:id="rId2"/>
    <p:sldId id="311" r:id="rId3"/>
    <p:sldId id="267" r:id="rId4"/>
    <p:sldId id="301" r:id="rId5"/>
    <p:sldId id="260" r:id="rId6"/>
    <p:sldId id="258" r:id="rId7"/>
    <p:sldId id="261" r:id="rId8"/>
    <p:sldId id="302" r:id="rId9"/>
    <p:sldId id="286" r:id="rId10"/>
    <p:sldId id="293" r:id="rId11"/>
    <p:sldId id="303" r:id="rId12"/>
    <p:sldId id="294" r:id="rId13"/>
    <p:sldId id="295" r:id="rId14"/>
    <p:sldId id="296" r:id="rId15"/>
    <p:sldId id="297" r:id="rId16"/>
    <p:sldId id="298" r:id="rId17"/>
    <p:sldId id="292" r:id="rId18"/>
    <p:sldId id="304" r:id="rId19"/>
    <p:sldId id="305" r:id="rId20"/>
    <p:sldId id="291" r:id="rId21"/>
    <p:sldId id="300" r:id="rId22"/>
    <p:sldId id="26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3" d="100"/>
          <a:sy n="63" d="100"/>
        </p:scale>
        <p:origin x="80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1745644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38218237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262495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089376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4280748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04981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63798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104269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362747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9412599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168345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40053235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0141424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32948327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3844150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8000669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6140602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2534935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634910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36">
          <p15:clr>
            <a:srgbClr val="F26B43"/>
          </p15:clr>
        </p15:guide>
        <p15:guide id="4" orient="horz" pos="336">
          <p15:clr>
            <a:srgbClr val="F26B43"/>
          </p15:clr>
        </p15:guide>
        <p15:guide id="5" pos="7344">
          <p15:clr>
            <a:srgbClr val="F26B43"/>
          </p15:clr>
        </p15:guide>
        <p15:guide id="6" orient="horz" pos="398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a:extLst>
            <a:ext uri="{FF2B5EF4-FFF2-40B4-BE49-F238E27FC236}">
              <a16:creationId xmlns:a16="http://schemas.microsoft.com/office/drawing/2014/main" id="{87BED41F-155A-85FF-86EB-C5F1BE9982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155D75-5B17-4472-AB87-72D5D2A40787}"/>
              </a:ext>
            </a:extLst>
          </p:cNvPr>
          <p:cNvSpPr>
            <a:spLocks noGrp="1"/>
          </p:cNvSpPr>
          <p:nvPr>
            <p:ph type="ctrTitle"/>
          </p:nvPr>
        </p:nvSpPr>
        <p:spPr>
          <a:xfrm>
            <a:off x="2389331" y="1451335"/>
            <a:ext cx="9179859" cy="1927056"/>
          </a:xfrm>
        </p:spPr>
        <p:txBody>
          <a:bodyPr/>
          <a:lstStyle/>
          <a:p>
            <a:r>
              <a:rPr lang="en-US" dirty="0"/>
              <a:t>Amazon </a:t>
            </a:r>
            <a:br>
              <a:rPr lang="en-US" dirty="0"/>
            </a:br>
            <a:r>
              <a:rPr lang="en-US" dirty="0"/>
              <a:t>Ecommerce Analysis</a:t>
            </a:r>
          </a:p>
        </p:txBody>
      </p:sp>
      <p:sp>
        <p:nvSpPr>
          <p:cNvPr id="3" name="Subtitle 2">
            <a:extLst>
              <a:ext uri="{FF2B5EF4-FFF2-40B4-BE49-F238E27FC236}">
                <a16:creationId xmlns:a16="http://schemas.microsoft.com/office/drawing/2014/main" id="{76E9179D-8E50-E222-BEB5-DBC48784207F}"/>
              </a:ext>
            </a:extLst>
          </p:cNvPr>
          <p:cNvSpPr>
            <a:spLocks noGrp="1"/>
          </p:cNvSpPr>
          <p:nvPr>
            <p:ph type="subTitle" idx="1"/>
          </p:nvPr>
        </p:nvSpPr>
        <p:spPr>
          <a:xfrm>
            <a:off x="2447782" y="3961451"/>
            <a:ext cx="9583795" cy="1048699"/>
          </a:xfrm>
        </p:spPr>
        <p:txBody>
          <a:bodyPr>
            <a:normAutofit/>
          </a:bodyPr>
          <a:lstStyle/>
          <a:p>
            <a:r>
              <a:rPr lang="en-US" dirty="0"/>
              <a:t>Power BI Project By Abhishek Kunwar</a:t>
            </a:r>
          </a:p>
          <a:p>
            <a:r>
              <a:rPr lang="en-US" dirty="0"/>
              <a:t>Tools Used – Power BI Desktop, MySQL Workbench, MS-Office</a:t>
            </a:r>
          </a:p>
        </p:txBody>
      </p:sp>
      <p:sp>
        <p:nvSpPr>
          <p:cNvPr id="4" name="Title 1">
            <a:extLst>
              <a:ext uri="{FF2B5EF4-FFF2-40B4-BE49-F238E27FC236}">
                <a16:creationId xmlns:a16="http://schemas.microsoft.com/office/drawing/2014/main" id="{5B6CDEC4-4AED-F14F-A9AB-7675787AF933}"/>
              </a:ext>
            </a:extLst>
          </p:cNvPr>
          <p:cNvSpPr txBox="1">
            <a:spLocks/>
          </p:cNvSpPr>
          <p:nvPr/>
        </p:nvSpPr>
        <p:spPr>
          <a:xfrm>
            <a:off x="2411922" y="3223031"/>
            <a:ext cx="7077456" cy="58235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lang="en-GB" sz="6600" b="1" kern="1200" dirty="0">
                <a:solidFill>
                  <a:schemeClr val="accent2"/>
                </a:solidFill>
                <a:latin typeface="+mj-lt"/>
                <a:ea typeface="Tahoma" panose="020B0604030504040204" pitchFamily="34" charset="0"/>
                <a:cs typeface="Tahoma" panose="020B060403050404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600" b="1" i="0" u="none" strike="noStrike" kern="1200" cap="none" spc="0" normalizeH="0" baseline="0" noProof="0" dirty="0">
                <a:ln>
                  <a:noFill/>
                </a:ln>
                <a:solidFill>
                  <a:srgbClr val="47C3D3"/>
                </a:solidFill>
                <a:effectLst/>
                <a:uLnTx/>
                <a:uFillTx/>
                <a:latin typeface="Trebuchet MS"/>
                <a:ea typeface="Tahoma" panose="020B0604030504040204" pitchFamily="34" charset="0"/>
                <a:cs typeface="Tahoma" panose="020B0604030504040204" pitchFamily="34" charset="0"/>
              </a:rPr>
              <a:t>“Optimizing E-Commerce Performance through Data-Driven Insights”</a:t>
            </a:r>
          </a:p>
        </p:txBody>
      </p:sp>
    </p:spTree>
    <p:extLst>
      <p:ext uri="{BB962C8B-B14F-4D97-AF65-F5344CB8AC3E}">
        <p14:creationId xmlns:p14="http://schemas.microsoft.com/office/powerpoint/2010/main" val="970008955"/>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1540315" y="1313329"/>
            <a:ext cx="7781544" cy="859055"/>
          </a:xfrm>
        </p:spPr>
        <p:txBody>
          <a:bodyPr/>
          <a:lstStyle/>
          <a:p>
            <a:r>
              <a:rPr lang="en-US" dirty="0"/>
              <a:t>Agenda</a:t>
            </a:r>
          </a:p>
        </p:txBody>
      </p:sp>
      <p:sp>
        <p:nvSpPr>
          <p:cNvPr id="5" name="Text Placeholder 4">
            <a:extLst>
              <a:ext uri="{FF2B5EF4-FFF2-40B4-BE49-F238E27FC236}">
                <a16:creationId xmlns:a16="http://schemas.microsoft.com/office/drawing/2014/main" id="{0A95F4DE-39B7-4CE2-BC1E-8B8AE662A895}"/>
              </a:ext>
            </a:extLst>
          </p:cNvPr>
          <p:cNvSpPr>
            <a:spLocks noGrp="1"/>
          </p:cNvSpPr>
          <p:nvPr>
            <p:ph type="body" idx="1"/>
          </p:nvPr>
        </p:nvSpPr>
        <p:spPr>
          <a:xfrm>
            <a:off x="1613646" y="2537014"/>
            <a:ext cx="6855057" cy="2753958"/>
          </a:xfrm>
        </p:spPr>
        <p:txBody>
          <a:bodyPr/>
          <a:lstStyle/>
          <a:p>
            <a:pPr marL="285750" indent="-285750">
              <a:buFont typeface="Wingdings" panose="05000000000000000000" pitchFamily="2" charset="2"/>
              <a:buChar char="q"/>
            </a:pPr>
            <a:r>
              <a:rPr lang="en-US" dirty="0"/>
              <a:t>Problem Statement</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Data Description</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Objective Key Metrics and Visualizations</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Insights and Recommendations</a:t>
            </a:r>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ouple of people standing next to a computer&#10;&#10;AI-generated content may be incorrect.">
            <a:extLst>
              <a:ext uri="{FF2B5EF4-FFF2-40B4-BE49-F238E27FC236}">
                <a16:creationId xmlns:a16="http://schemas.microsoft.com/office/drawing/2014/main" id="{2E0C4432-A5A9-18AE-3994-288F5E6454D6}"/>
              </a:ext>
            </a:extLst>
          </p:cNvPr>
          <p:cNvPicPr>
            <a:picLocks noChangeAspect="1"/>
          </p:cNvPicPr>
          <p:nvPr/>
        </p:nvPicPr>
        <p:blipFill>
          <a:blip r:embed="rId2">
            <a:extLst>
              <a:ext uri="{28A0092B-C50C-407E-A947-70E740481C1C}">
                <a14:useLocalDpi xmlns:a14="http://schemas.microsoft.com/office/drawing/2010/main" val="0"/>
              </a:ext>
            </a:extLst>
          </a:blip>
          <a:srcRect l="25847" r="19799"/>
          <a:stretch>
            <a:fillRect/>
          </a:stretch>
        </p:blipFill>
        <p:spPr>
          <a:xfrm>
            <a:off x="7772400" y="1749129"/>
            <a:ext cx="3984171" cy="3620730"/>
          </a:xfrm>
          <a:prstGeom prst="roundRect">
            <a:avLst>
              <a:gd name="adj" fmla="val 3698"/>
            </a:avLst>
          </a:prstGeom>
          <a:solidFill>
            <a:srgbClr val="FFFFFF">
              <a:shade val="85000"/>
            </a:srgbClr>
          </a:solidFill>
          <a:ln>
            <a:noFill/>
          </a:ln>
          <a:effectLst>
            <a:reflection blurRad="12700" stA="38000" endPos="28000" dist="5000" dir="5400000" sy="-100000" algn="bl" rotWithShape="0"/>
          </a:effectLst>
        </p:spPr>
      </p:pic>
      <p:sp>
        <p:nvSpPr>
          <p:cNvPr id="6" name="Title 5">
            <a:extLst>
              <a:ext uri="{FF2B5EF4-FFF2-40B4-BE49-F238E27FC236}">
                <a16:creationId xmlns:a16="http://schemas.microsoft.com/office/drawing/2014/main" id="{A4CD37D6-FE32-48E3-A3AD-F07BE6A19FA1}"/>
              </a:ext>
            </a:extLst>
          </p:cNvPr>
          <p:cNvSpPr>
            <a:spLocks noGrp="1"/>
          </p:cNvSpPr>
          <p:nvPr>
            <p:ph type="title"/>
          </p:nvPr>
        </p:nvSpPr>
        <p:spPr>
          <a:xfrm>
            <a:off x="533399" y="3200400"/>
            <a:ext cx="6987074" cy="2169459"/>
          </a:xfrm>
        </p:spPr>
        <p:txBody>
          <a:bodyPr>
            <a:normAutofit fontScale="90000"/>
          </a:bodyPr>
          <a:lstStyle/>
          <a:p>
            <a:r>
              <a:rPr lang="en-US" sz="4400" dirty="0"/>
              <a:t>“More than 60% of Amazon's sales come from third-party sellers, not Amazon itself.”</a:t>
            </a:r>
            <a:br>
              <a:rPr lang="en-US" dirty="0"/>
            </a:br>
            <a:endParaRPr lang="en-US" dirty="0"/>
          </a:p>
        </p:txBody>
      </p:sp>
    </p:spTree>
    <p:extLst>
      <p:ext uri="{BB962C8B-B14F-4D97-AF65-F5344CB8AC3E}">
        <p14:creationId xmlns:p14="http://schemas.microsoft.com/office/powerpoint/2010/main" val="914134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BFECC-1A6D-EEF1-CAD7-CB5FF3ED4CD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CF6AC8E-CC58-D9A6-FA30-CBA29FF47B31}"/>
              </a:ext>
            </a:extLst>
          </p:cNvPr>
          <p:cNvSpPr>
            <a:spLocks noGrp="1"/>
          </p:cNvSpPr>
          <p:nvPr>
            <p:ph type="title"/>
          </p:nvPr>
        </p:nvSpPr>
        <p:spPr>
          <a:xfrm>
            <a:off x="352928" y="1313329"/>
            <a:ext cx="10812379" cy="859055"/>
          </a:xfrm>
        </p:spPr>
        <p:txBody>
          <a:bodyPr>
            <a:normAutofit/>
          </a:bodyPr>
          <a:lstStyle/>
          <a:p>
            <a:r>
              <a:rPr lang="en-US" dirty="0"/>
              <a:t>ABOUT AMAZON E-COMMERCE</a:t>
            </a:r>
          </a:p>
        </p:txBody>
      </p:sp>
      <p:sp>
        <p:nvSpPr>
          <p:cNvPr id="5" name="Text Placeholder 4">
            <a:extLst>
              <a:ext uri="{FF2B5EF4-FFF2-40B4-BE49-F238E27FC236}">
                <a16:creationId xmlns:a16="http://schemas.microsoft.com/office/drawing/2014/main" id="{C9EEEA81-1A43-6788-3029-8FBC771075EC}"/>
              </a:ext>
            </a:extLst>
          </p:cNvPr>
          <p:cNvSpPr>
            <a:spLocks noGrp="1"/>
          </p:cNvSpPr>
          <p:nvPr>
            <p:ph type="body" idx="1"/>
          </p:nvPr>
        </p:nvSpPr>
        <p:spPr>
          <a:xfrm>
            <a:off x="570909" y="2790713"/>
            <a:ext cx="7851196" cy="3690298"/>
          </a:xfrm>
        </p:spPr>
        <p:txBody>
          <a:bodyPr>
            <a:normAutofit/>
          </a:bodyPr>
          <a:lstStyle/>
          <a:p>
            <a:pPr marL="285750" indent="-285750">
              <a:buFont typeface="Wingdings" panose="05000000000000000000" pitchFamily="2" charset="2"/>
              <a:buChar char="q"/>
            </a:pPr>
            <a:r>
              <a:rPr lang="en-US" sz="2000" spc="0" dirty="0"/>
              <a:t> Amazon uses customer purchase data to decide where to open new warehouses.</a:t>
            </a:r>
          </a:p>
          <a:p>
            <a:pPr marL="285750" indent="-285750">
              <a:buFont typeface="Wingdings" panose="05000000000000000000" pitchFamily="2" charset="2"/>
              <a:buChar char="q"/>
            </a:pPr>
            <a:endParaRPr lang="en-US" sz="2000" spc="0" dirty="0"/>
          </a:p>
          <a:p>
            <a:pPr marL="285750" indent="-285750">
              <a:buFont typeface="Wingdings" panose="05000000000000000000" pitchFamily="2" charset="2"/>
              <a:buChar char="q"/>
            </a:pPr>
            <a:r>
              <a:rPr lang="en-US" sz="2000" spc="0" dirty="0"/>
              <a:t> Amazon’s recommendation engine influences over 35% of total sales.</a:t>
            </a:r>
          </a:p>
          <a:p>
            <a:pPr marL="285750" indent="-285750">
              <a:buFont typeface="Wingdings" panose="05000000000000000000" pitchFamily="2" charset="2"/>
              <a:buChar char="q"/>
            </a:pPr>
            <a:endParaRPr lang="en-US" sz="2000" spc="0" dirty="0"/>
          </a:p>
          <a:p>
            <a:pPr marL="285750" indent="-285750">
              <a:buFont typeface="Wingdings" panose="05000000000000000000" pitchFamily="2" charset="2"/>
              <a:buChar char="q"/>
            </a:pPr>
            <a:r>
              <a:rPr lang="en-US" sz="2000" spc="0" dirty="0"/>
              <a:t> In India, Amazon promoted “Cash on Delivery” to match local shopping habits</a:t>
            </a:r>
          </a:p>
        </p:txBody>
      </p:sp>
    </p:spTree>
    <p:extLst>
      <p:ext uri="{BB962C8B-B14F-4D97-AF65-F5344CB8AC3E}">
        <p14:creationId xmlns:p14="http://schemas.microsoft.com/office/powerpoint/2010/main" val="2279920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437662" y="327211"/>
            <a:ext cx="7781544" cy="859055"/>
          </a:xfrm>
        </p:spPr>
        <p:txBody>
          <a:bodyPr/>
          <a:lstStyle/>
          <a:p>
            <a:r>
              <a:rPr lang="en-IN" dirty="0"/>
              <a:t>Problem Statement</a:t>
            </a:r>
            <a:endParaRPr lang="en-US" dirty="0"/>
          </a:p>
        </p:txBody>
      </p:sp>
      <p:sp>
        <p:nvSpPr>
          <p:cNvPr id="5" name="Text Placeholder 4">
            <a:extLst>
              <a:ext uri="{FF2B5EF4-FFF2-40B4-BE49-F238E27FC236}">
                <a16:creationId xmlns:a16="http://schemas.microsoft.com/office/drawing/2014/main" id="{DCDDBE65-9AB1-4989-AF86-726591A6A128}"/>
              </a:ext>
            </a:extLst>
          </p:cNvPr>
          <p:cNvSpPr>
            <a:spLocks noGrp="1"/>
          </p:cNvSpPr>
          <p:nvPr>
            <p:ph type="body" idx="1"/>
          </p:nvPr>
        </p:nvSpPr>
        <p:spPr>
          <a:xfrm>
            <a:off x="480871" y="1402081"/>
            <a:ext cx="9802118" cy="1964164"/>
          </a:xfrm>
        </p:spPr>
        <p:txBody>
          <a:bodyPr>
            <a:normAutofit fontScale="85000" lnSpcReduction="20000"/>
          </a:bodyPr>
          <a:lstStyle/>
          <a:p>
            <a:pPr algn="just">
              <a:lnSpc>
                <a:spcPct val="120000"/>
              </a:lnSpc>
            </a:pPr>
            <a:r>
              <a:rPr lang="en-US" sz="2400" spc="0" dirty="0"/>
              <a:t>You are working as a business analyst at Amazon, a company currently performing well. The stakeholders wish to maintain this level of performance and seek improvement. For this purpose, they want to devise new strategies. You are part of a team exploring new ways to benefit customers, such as offering more discounts and Prime membership perks. Could you suggest additional methods to identify and reward customers and enhance their shopping experience?</a:t>
            </a:r>
          </a:p>
        </p:txBody>
      </p:sp>
      <p:pic>
        <p:nvPicPr>
          <p:cNvPr id="7" name="Picture 6">
            <a:extLst>
              <a:ext uri="{FF2B5EF4-FFF2-40B4-BE49-F238E27FC236}">
                <a16:creationId xmlns:a16="http://schemas.microsoft.com/office/drawing/2014/main" id="{CBDB48B2-02F5-1040-55FE-D975F16721E2}"/>
              </a:ext>
            </a:extLst>
          </p:cNvPr>
          <p:cNvPicPr>
            <a:picLocks noChangeAspect="1"/>
          </p:cNvPicPr>
          <p:nvPr/>
        </p:nvPicPr>
        <p:blipFill>
          <a:blip r:embed="rId2"/>
          <a:stretch>
            <a:fillRect/>
          </a:stretch>
        </p:blipFill>
        <p:spPr>
          <a:xfrm>
            <a:off x="533400" y="3429000"/>
            <a:ext cx="9749589" cy="3326472"/>
          </a:xfrm>
          <a:prstGeom prst="rect">
            <a:avLst/>
          </a:prstGeom>
        </p:spPr>
      </p:pic>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909744"/>
            <a:ext cx="4687337" cy="840230"/>
          </a:xfrm>
        </p:spPr>
        <p:txBody>
          <a:bodyPr/>
          <a:lstStyle/>
          <a:p>
            <a:r>
              <a:rPr lang="en-IN" sz="5400" dirty="0"/>
              <a:t>Data</a:t>
            </a:r>
            <a:r>
              <a:rPr lang="en-IN" dirty="0"/>
              <a:t> </a:t>
            </a:r>
            <a:r>
              <a:rPr lang="en-IN" sz="5400" dirty="0"/>
              <a:t>Overview</a:t>
            </a:r>
            <a:endParaRPr lang="en-US" sz="5400" dirty="0"/>
          </a:p>
        </p:txBody>
      </p:sp>
      <p:sp>
        <p:nvSpPr>
          <p:cNvPr id="6" name="Text Placeholder 9">
            <a:extLst>
              <a:ext uri="{FF2B5EF4-FFF2-40B4-BE49-F238E27FC236}">
                <a16:creationId xmlns:a16="http://schemas.microsoft.com/office/drawing/2014/main" id="{714D2790-07DA-1225-D6C8-D1256CD7C4EC}"/>
              </a:ext>
            </a:extLst>
          </p:cNvPr>
          <p:cNvSpPr txBox="1">
            <a:spLocks/>
          </p:cNvSpPr>
          <p:nvPr/>
        </p:nvSpPr>
        <p:spPr>
          <a:xfrm>
            <a:off x="533399" y="2057000"/>
            <a:ext cx="10849947" cy="4809814"/>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6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4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2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400"/>
              </a:spcAft>
              <a:buClr>
                <a:srgbClr val="47C3D3"/>
              </a:buClr>
              <a:buSzTx/>
              <a:buFont typeface="Arial" panose="020B0604020202020204" pitchFamily="34" charset="0"/>
              <a:buNone/>
              <a:tabLst/>
              <a:defRPr/>
            </a:pPr>
            <a:r>
              <a:rPr kumimoji="0" lang="en-US" sz="1800" b="0" i="0" u="none" strike="noStrike" kern="1200" cap="none" spc="0" normalizeH="0" baseline="0" noProof="0" dirty="0">
                <a:ln>
                  <a:noFill/>
                </a:ln>
                <a:solidFill>
                  <a:srgbClr val="FFFFFF"/>
                </a:solidFill>
                <a:effectLst/>
                <a:uLnTx/>
                <a:uFillTx/>
                <a:latin typeface="Arial"/>
                <a:ea typeface="+mn-ea"/>
                <a:cs typeface="Arial" panose="020B0604020202020204" pitchFamily="34" charset="0"/>
              </a:rPr>
              <a:t>🛒 Total Sales: 603K units sold across various product categories.</a:t>
            </a:r>
          </a:p>
          <a:p>
            <a:pPr marL="0" marR="0" lvl="0" indent="0" algn="l" defTabSz="914400" rtl="0" eaLnBrk="1" fontAlgn="auto" latinLnBrk="0" hangingPunct="1">
              <a:lnSpc>
                <a:spcPct val="100000"/>
              </a:lnSpc>
              <a:spcBef>
                <a:spcPts val="600"/>
              </a:spcBef>
              <a:spcAft>
                <a:spcPts val="400"/>
              </a:spcAft>
              <a:buClr>
                <a:srgbClr val="47C3D3"/>
              </a:buClr>
              <a:buSzTx/>
              <a:buFont typeface="Arial" panose="020B0604020202020204" pitchFamily="34" charset="0"/>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Arial" panose="020B0604020202020204" pitchFamily="34" charset="0"/>
            </a:endParaRPr>
          </a:p>
          <a:p>
            <a:pPr marL="0" marR="0" lvl="0" indent="0" algn="l" defTabSz="914400" rtl="0" eaLnBrk="1" fontAlgn="auto" latinLnBrk="0" hangingPunct="1">
              <a:lnSpc>
                <a:spcPct val="100000"/>
              </a:lnSpc>
              <a:spcBef>
                <a:spcPts val="600"/>
              </a:spcBef>
              <a:spcAft>
                <a:spcPts val="400"/>
              </a:spcAft>
              <a:buClr>
                <a:srgbClr val="47C3D3"/>
              </a:buClr>
              <a:buSzTx/>
              <a:buFont typeface="Arial" panose="020B0604020202020204" pitchFamily="34" charset="0"/>
              <a:buNone/>
              <a:tabLst/>
              <a:defRPr/>
            </a:pPr>
            <a:r>
              <a:rPr kumimoji="0" lang="en-US" sz="1800" b="0" i="0" u="none" strike="noStrike" kern="1200" cap="none" spc="0" normalizeH="0" baseline="0" noProof="0" dirty="0">
                <a:ln>
                  <a:noFill/>
                </a:ln>
                <a:solidFill>
                  <a:srgbClr val="FFFFFF"/>
                </a:solidFill>
                <a:effectLst/>
                <a:uLnTx/>
                <a:uFillTx/>
                <a:latin typeface="Arial"/>
                <a:ea typeface="+mn-ea"/>
                <a:cs typeface="Arial" panose="020B0604020202020204" pitchFamily="34" charset="0"/>
              </a:rPr>
              <a:t>💰 Total Revenue: ₹107.24M generated till date, showing strong market engagement.</a:t>
            </a:r>
          </a:p>
          <a:p>
            <a:pPr marL="0" marR="0" lvl="0" indent="0" algn="l" defTabSz="914400" rtl="0" eaLnBrk="1" fontAlgn="auto" latinLnBrk="0" hangingPunct="1">
              <a:lnSpc>
                <a:spcPct val="100000"/>
              </a:lnSpc>
              <a:spcBef>
                <a:spcPts val="600"/>
              </a:spcBef>
              <a:spcAft>
                <a:spcPts val="400"/>
              </a:spcAft>
              <a:buClr>
                <a:srgbClr val="47C3D3"/>
              </a:buClr>
              <a:buSzTx/>
              <a:buFont typeface="Arial" panose="020B0604020202020204" pitchFamily="34" charset="0"/>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Arial" panose="020B0604020202020204" pitchFamily="34" charset="0"/>
            </a:endParaRPr>
          </a:p>
          <a:p>
            <a:pPr marL="0" marR="0" lvl="0" indent="0" algn="l" defTabSz="914400" rtl="0" eaLnBrk="1" fontAlgn="auto" latinLnBrk="0" hangingPunct="1">
              <a:lnSpc>
                <a:spcPct val="100000"/>
              </a:lnSpc>
              <a:spcBef>
                <a:spcPts val="600"/>
              </a:spcBef>
              <a:spcAft>
                <a:spcPts val="400"/>
              </a:spcAft>
              <a:buClr>
                <a:srgbClr val="47C3D3"/>
              </a:buClr>
              <a:buSzTx/>
              <a:buFont typeface="Arial" panose="020B0604020202020204" pitchFamily="34" charset="0"/>
              <a:buNone/>
              <a:tabLst/>
              <a:defRPr/>
            </a:pPr>
            <a:r>
              <a:rPr kumimoji="0" lang="en-US" sz="1800" b="0" i="0" u="none" strike="noStrike" kern="1200" cap="none" spc="0" normalizeH="0" baseline="0" noProof="0" dirty="0">
                <a:ln>
                  <a:noFill/>
                </a:ln>
                <a:solidFill>
                  <a:srgbClr val="FFFFFF"/>
                </a:solidFill>
                <a:effectLst/>
                <a:uLnTx/>
                <a:uFillTx/>
                <a:latin typeface="Arial"/>
                <a:ea typeface="+mn-ea"/>
                <a:cs typeface="Arial" panose="020B0604020202020204" pitchFamily="34" charset="0"/>
              </a:rPr>
              <a:t>⭐ Average Customer Rating: 2.73 – indicating a need for improved customer satisfaction.</a:t>
            </a:r>
          </a:p>
          <a:p>
            <a:pPr marL="0" marR="0" lvl="0" indent="0" algn="l" defTabSz="914400" rtl="0" eaLnBrk="1" fontAlgn="auto" latinLnBrk="0" hangingPunct="1">
              <a:lnSpc>
                <a:spcPct val="100000"/>
              </a:lnSpc>
              <a:spcBef>
                <a:spcPts val="600"/>
              </a:spcBef>
              <a:spcAft>
                <a:spcPts val="400"/>
              </a:spcAft>
              <a:buClr>
                <a:srgbClr val="47C3D3"/>
              </a:buClr>
              <a:buSzTx/>
              <a:buFont typeface="Arial" panose="020B0604020202020204" pitchFamily="34" charset="0"/>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Arial" panose="020B0604020202020204" pitchFamily="34" charset="0"/>
            </a:endParaRPr>
          </a:p>
          <a:p>
            <a:pPr marL="0" marR="0" lvl="0" indent="0" algn="l" defTabSz="914400" rtl="0" eaLnBrk="1" fontAlgn="auto" latinLnBrk="0" hangingPunct="1">
              <a:lnSpc>
                <a:spcPct val="100000"/>
              </a:lnSpc>
              <a:spcBef>
                <a:spcPts val="600"/>
              </a:spcBef>
              <a:spcAft>
                <a:spcPts val="400"/>
              </a:spcAft>
              <a:buClr>
                <a:srgbClr val="47C3D3"/>
              </a:buClr>
              <a:buSzTx/>
              <a:buFont typeface="Arial" panose="020B0604020202020204" pitchFamily="34" charset="0"/>
              <a:buNone/>
              <a:tabLst/>
              <a:defRPr/>
            </a:pPr>
            <a:r>
              <a:rPr kumimoji="0" lang="en-US" sz="1800" b="0" i="0" u="none" strike="noStrike" kern="1200" cap="none" spc="0" normalizeH="0" baseline="0" noProof="0" dirty="0">
                <a:ln>
                  <a:noFill/>
                </a:ln>
                <a:solidFill>
                  <a:srgbClr val="FFFFFF"/>
                </a:solidFill>
                <a:effectLst/>
                <a:uLnTx/>
                <a:uFillTx/>
                <a:latin typeface="Arial"/>
                <a:ea typeface="+mn-ea"/>
                <a:cs typeface="Arial" panose="020B0604020202020204" pitchFamily="34" charset="0"/>
              </a:rPr>
              <a:t>🌍 Geographical Spread: Orders placed from diverse locations across India – major metros and tier-2 cities.</a:t>
            </a:r>
          </a:p>
          <a:p>
            <a:pPr marL="0" marR="0" lvl="0" indent="0" algn="l" defTabSz="914400" rtl="0" eaLnBrk="1" fontAlgn="auto" latinLnBrk="0" hangingPunct="1">
              <a:lnSpc>
                <a:spcPct val="100000"/>
              </a:lnSpc>
              <a:spcBef>
                <a:spcPts val="600"/>
              </a:spcBef>
              <a:spcAft>
                <a:spcPts val="400"/>
              </a:spcAft>
              <a:buClr>
                <a:srgbClr val="47C3D3"/>
              </a:buClr>
              <a:buSzTx/>
              <a:buFont typeface="Arial" panose="020B0604020202020204" pitchFamily="34" charset="0"/>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Arial" panose="020B0604020202020204" pitchFamily="34" charset="0"/>
            </a:endParaRPr>
          </a:p>
          <a:p>
            <a:pPr marL="0" marR="0" lvl="0" indent="0" algn="l" defTabSz="914400" rtl="0" eaLnBrk="1" fontAlgn="auto" latinLnBrk="0" hangingPunct="1">
              <a:lnSpc>
                <a:spcPct val="100000"/>
              </a:lnSpc>
              <a:spcBef>
                <a:spcPts val="600"/>
              </a:spcBef>
              <a:spcAft>
                <a:spcPts val="400"/>
              </a:spcAft>
              <a:buClr>
                <a:srgbClr val="47C3D3"/>
              </a:buClr>
              <a:buSzTx/>
              <a:buFont typeface="Arial" panose="020B0604020202020204" pitchFamily="34" charset="0"/>
              <a:buNone/>
              <a:tabLst/>
              <a:defRPr/>
            </a:pPr>
            <a:r>
              <a:rPr kumimoji="0" lang="en-US" sz="1800" b="0" i="0" u="none" strike="noStrike" kern="1200" cap="none" spc="0" normalizeH="0" baseline="0" noProof="0" dirty="0">
                <a:ln>
                  <a:noFill/>
                </a:ln>
                <a:solidFill>
                  <a:srgbClr val="FFFFFF"/>
                </a:solidFill>
                <a:effectLst/>
                <a:uLnTx/>
                <a:uFillTx/>
                <a:latin typeface="Arial"/>
                <a:ea typeface="+mn-ea"/>
                <a:cs typeface="Arial" panose="020B0604020202020204" pitchFamily="34" charset="0"/>
              </a:rPr>
              <a:t>🚚 Delivery Types: Includes standard delivery and “Shipped from Abroad,” influencing wait times and satisfaction levels.</a:t>
            </a:r>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274164" y="847720"/>
            <a:ext cx="7569947" cy="507831"/>
          </a:xfrm>
        </p:spPr>
        <p:txBody>
          <a:bodyPr/>
          <a:lstStyle/>
          <a:p>
            <a:r>
              <a:rPr lang="en-US" sz="3000" dirty="0"/>
              <a:t>DATA CLEANING STEPS UNDERTAKEN:</a:t>
            </a:r>
          </a:p>
        </p:txBody>
      </p:sp>
      <p:sp>
        <p:nvSpPr>
          <p:cNvPr id="5" name="Text Placeholder 7">
            <a:extLst>
              <a:ext uri="{FF2B5EF4-FFF2-40B4-BE49-F238E27FC236}">
                <a16:creationId xmlns:a16="http://schemas.microsoft.com/office/drawing/2014/main" id="{5E6F3641-9A7F-5305-0D44-6C40E38618C6}"/>
              </a:ext>
            </a:extLst>
          </p:cNvPr>
          <p:cNvSpPr txBox="1">
            <a:spLocks/>
          </p:cNvSpPr>
          <p:nvPr/>
        </p:nvSpPr>
        <p:spPr>
          <a:xfrm>
            <a:off x="334504" y="1754156"/>
            <a:ext cx="8240329" cy="43046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1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2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1000"/>
              </a:spcBef>
              <a:spcAft>
                <a:spcPts val="0"/>
              </a:spcAft>
              <a:buClr>
                <a:srgbClr val="47C3D3"/>
              </a:buClr>
              <a:buSzTx/>
              <a:buFont typeface="Wingdings" panose="05000000000000000000" pitchFamily="2" charset="2"/>
              <a:buChar char="q"/>
              <a:tabLst/>
              <a:defRPr/>
            </a:pPr>
            <a:r>
              <a:rPr kumimoji="0" lang="en-US" sz="2000" b="0" i="1"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 Removed Duplicate Records: Checked for and eliminated duplicate rows to avoid redundancy in analysis.</a:t>
            </a:r>
          </a:p>
          <a:p>
            <a:pPr marL="228600" marR="0" lvl="0" indent="-228600" algn="l" defTabSz="914400" rtl="0" eaLnBrk="1" fontAlgn="auto" latinLnBrk="0" hangingPunct="1">
              <a:lnSpc>
                <a:spcPct val="100000"/>
              </a:lnSpc>
              <a:spcBef>
                <a:spcPts val="1000"/>
              </a:spcBef>
              <a:spcAft>
                <a:spcPts val="0"/>
              </a:spcAft>
              <a:buClr>
                <a:srgbClr val="47C3D3"/>
              </a:buClr>
              <a:buSzTx/>
              <a:buFont typeface="Wingdings" panose="05000000000000000000" pitchFamily="2" charset="2"/>
              <a:buChar char="q"/>
              <a:tabLst/>
              <a:defRPr/>
            </a:pPr>
            <a:r>
              <a:rPr kumimoji="0" lang="en-US" sz="2000" b="0" i="1"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Handled Missing Values: Filled or removed rows with missing entries in key fields like Ratings, Revenue, and Delivery Type.</a:t>
            </a:r>
          </a:p>
          <a:p>
            <a:pPr marL="228600" marR="0" lvl="0" indent="-228600" algn="l" defTabSz="914400" rtl="0" eaLnBrk="1" fontAlgn="auto" latinLnBrk="0" hangingPunct="1">
              <a:lnSpc>
                <a:spcPct val="100000"/>
              </a:lnSpc>
              <a:spcBef>
                <a:spcPts val="1000"/>
              </a:spcBef>
              <a:spcAft>
                <a:spcPts val="0"/>
              </a:spcAft>
              <a:buClr>
                <a:srgbClr val="47C3D3"/>
              </a:buClr>
              <a:buSzTx/>
              <a:buFont typeface="Wingdings" panose="05000000000000000000" pitchFamily="2" charset="2"/>
              <a:buChar char="q"/>
              <a:tabLst/>
              <a:defRPr/>
            </a:pPr>
            <a:r>
              <a:rPr kumimoji="0" lang="en-US" sz="2000" b="0" i="1"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Created Calendar Table: Added a separate calendar table for proper date-based analysis and time intelligence.</a:t>
            </a:r>
          </a:p>
          <a:p>
            <a:pPr marL="228600" marR="0" lvl="0" indent="-228600" algn="l" defTabSz="914400" rtl="0" eaLnBrk="1" fontAlgn="auto" latinLnBrk="0" hangingPunct="1">
              <a:lnSpc>
                <a:spcPct val="100000"/>
              </a:lnSpc>
              <a:spcBef>
                <a:spcPts val="1000"/>
              </a:spcBef>
              <a:spcAft>
                <a:spcPts val="0"/>
              </a:spcAft>
              <a:buClr>
                <a:srgbClr val="47C3D3"/>
              </a:buClr>
              <a:buSzTx/>
              <a:buFont typeface="Wingdings" panose="05000000000000000000" pitchFamily="2" charset="2"/>
              <a:buChar char="q"/>
              <a:tabLst/>
              <a:defRPr/>
            </a:pPr>
            <a:r>
              <a:rPr kumimoji="0" lang="en-US" sz="2000" b="0" i="1"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Calculated New Columns: Created new columns like Total Revenue, Waiting Time, and Sales Category for advanced insights.</a:t>
            </a:r>
          </a:p>
          <a:p>
            <a:pPr marL="228600" marR="0" lvl="0" indent="-228600" algn="l" defTabSz="914400" rtl="0" eaLnBrk="1" fontAlgn="auto" latinLnBrk="0" hangingPunct="1">
              <a:lnSpc>
                <a:spcPct val="100000"/>
              </a:lnSpc>
              <a:spcBef>
                <a:spcPts val="1000"/>
              </a:spcBef>
              <a:spcAft>
                <a:spcPts val="0"/>
              </a:spcAft>
              <a:buClr>
                <a:srgbClr val="47C3D3"/>
              </a:buClr>
              <a:buSzTx/>
              <a:buFont typeface="Wingdings" panose="05000000000000000000" pitchFamily="2" charset="2"/>
              <a:buChar char="q"/>
              <a:tabLst/>
              <a:defRPr/>
            </a:pPr>
            <a:r>
              <a:rPr kumimoji="0" lang="en-US" sz="2000" b="0" i="1"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Established Relationships: Linked tables like Orders, Customers, and Calendar using keys to ensure relational modeling in Power BI.</a:t>
            </a:r>
            <a:endParaRPr kumimoji="0" lang="en-US" sz="2000" b="0" i="0" u="none" strike="noStrike" kern="1200" cap="none" spc="0" normalizeH="0" baseline="0" noProof="0" dirty="0">
              <a:ln>
                <a:noFill/>
              </a:ln>
              <a:solidFill>
                <a:srgbClr val="FFFFFF"/>
              </a:solidFill>
              <a:effectLst/>
              <a:uLnTx/>
              <a:uFillTx/>
              <a:latin typeface="Arial"/>
              <a:ea typeface="+mn-ea"/>
              <a:cs typeface="+mn-cs"/>
            </a:endParaRPr>
          </a:p>
        </p:txBody>
      </p:sp>
      <p:pic>
        <p:nvPicPr>
          <p:cNvPr id="12" name="Picture 11">
            <a:extLst>
              <a:ext uri="{FF2B5EF4-FFF2-40B4-BE49-F238E27FC236}">
                <a16:creationId xmlns:a16="http://schemas.microsoft.com/office/drawing/2014/main" id="{45AE15DC-0F0F-A4DE-ED22-727C551E5698}"/>
              </a:ext>
            </a:extLst>
          </p:cNvPr>
          <p:cNvPicPr>
            <a:picLocks noChangeAspect="1"/>
          </p:cNvPicPr>
          <p:nvPr/>
        </p:nvPicPr>
        <p:blipFill>
          <a:blip r:embed="rId2"/>
          <a:srcRect/>
          <a:stretch/>
        </p:blipFill>
        <p:spPr>
          <a:xfrm>
            <a:off x="8342654" y="2082664"/>
            <a:ext cx="3586102" cy="2991251"/>
          </a:xfrm>
          <a:prstGeom prst="rect">
            <a:avLst/>
          </a:prstGeom>
        </p:spPr>
      </p:pic>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6AE4B-BB5A-41B7-21BD-77C6EB8CBED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0BD8B74-5B10-CE2C-B91B-F9617AA38046}"/>
              </a:ext>
            </a:extLst>
          </p:cNvPr>
          <p:cNvSpPr>
            <a:spLocks noGrp="1"/>
          </p:cNvSpPr>
          <p:nvPr>
            <p:ph type="title"/>
          </p:nvPr>
        </p:nvSpPr>
        <p:spPr>
          <a:xfrm>
            <a:off x="274164" y="847720"/>
            <a:ext cx="7569947" cy="507831"/>
          </a:xfrm>
        </p:spPr>
        <p:txBody>
          <a:bodyPr/>
          <a:lstStyle/>
          <a:p>
            <a:r>
              <a:rPr lang="en-US" sz="3000" dirty="0"/>
              <a:t>WHY THIS DATA IS CRUCIAL FOR ANALYSIS ?</a:t>
            </a:r>
          </a:p>
        </p:txBody>
      </p:sp>
      <p:sp>
        <p:nvSpPr>
          <p:cNvPr id="5" name="Text Placeholder 7">
            <a:extLst>
              <a:ext uri="{FF2B5EF4-FFF2-40B4-BE49-F238E27FC236}">
                <a16:creationId xmlns:a16="http://schemas.microsoft.com/office/drawing/2014/main" id="{CA019EA5-6EE4-0556-A2A8-A760F42F2EB6}"/>
              </a:ext>
            </a:extLst>
          </p:cNvPr>
          <p:cNvSpPr txBox="1">
            <a:spLocks/>
          </p:cNvSpPr>
          <p:nvPr/>
        </p:nvSpPr>
        <p:spPr>
          <a:xfrm>
            <a:off x="334504" y="1754156"/>
            <a:ext cx="7924033" cy="43046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1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2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rgbClr val="47C3D3"/>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Arial"/>
                <a:ea typeface="+mn-ea"/>
                <a:cs typeface="+mn-cs"/>
              </a:rPr>
              <a:t>📊 </a:t>
            </a:r>
            <a:r>
              <a:rPr kumimoji="0" lang="en-US" sz="2000" b="1" i="0" u="none" strike="noStrike" kern="1200" cap="none" spc="0" normalizeH="0" baseline="0" noProof="0" dirty="0">
                <a:ln>
                  <a:noFill/>
                </a:ln>
                <a:solidFill>
                  <a:srgbClr val="FFFFFF"/>
                </a:solidFill>
                <a:effectLst/>
                <a:uLnTx/>
                <a:uFillTx/>
                <a:latin typeface="Arial"/>
                <a:ea typeface="+mn-ea"/>
                <a:cs typeface="+mn-cs"/>
              </a:rPr>
              <a:t>Tracks Overall Performance:</a:t>
            </a:r>
            <a:r>
              <a:rPr kumimoji="0" lang="en-US" sz="2000" b="0" i="0" u="none" strike="noStrike" kern="1200" cap="none" spc="0" normalizeH="0" baseline="0" noProof="0" dirty="0">
                <a:ln>
                  <a:noFill/>
                </a:ln>
                <a:solidFill>
                  <a:srgbClr val="FFFFFF"/>
                </a:solidFill>
                <a:effectLst/>
                <a:uLnTx/>
                <a:uFillTx/>
                <a:latin typeface="Arial"/>
                <a:ea typeface="+mn-ea"/>
                <a:cs typeface="+mn-cs"/>
              </a:rPr>
              <a:t> Helps measure total sales, revenue, and customer satisfaction across product categories.</a:t>
            </a:r>
          </a:p>
          <a:p>
            <a:pPr marL="0" marR="0" lvl="0" indent="0" algn="l" defTabSz="914400" rtl="0" eaLnBrk="1" fontAlgn="auto" latinLnBrk="0" hangingPunct="1">
              <a:lnSpc>
                <a:spcPct val="90000"/>
              </a:lnSpc>
              <a:spcBef>
                <a:spcPts val="1000"/>
              </a:spcBef>
              <a:spcAft>
                <a:spcPts val="0"/>
              </a:spcAft>
              <a:buClr>
                <a:srgbClr val="47C3D3"/>
              </a:buClr>
              <a:buSzTx/>
              <a:buFont typeface="Arial" panose="020B0604020202020204" pitchFamily="34" charset="0"/>
              <a:buNone/>
              <a:tabLst/>
              <a:defRPr/>
            </a:pPr>
            <a:endParaRPr kumimoji="0" lang="en-US" sz="2000" b="0" i="0" u="none" strike="noStrike" kern="1200" cap="none" spc="0" normalizeH="0" baseline="0" noProof="0" dirty="0">
              <a:ln>
                <a:noFill/>
              </a:ln>
              <a:solidFill>
                <a:srgbClr val="FFFFFF"/>
              </a:solidFill>
              <a:effectLst/>
              <a:uLnTx/>
              <a:uFillTx/>
              <a:latin typeface="Arial"/>
              <a:ea typeface="+mn-ea"/>
              <a:cs typeface="+mn-cs"/>
            </a:endParaRPr>
          </a:p>
          <a:p>
            <a:pPr marL="228600" marR="0" lvl="0" indent="-228600" algn="l" defTabSz="914400" rtl="0" eaLnBrk="1" fontAlgn="auto" latinLnBrk="0" hangingPunct="1">
              <a:lnSpc>
                <a:spcPct val="90000"/>
              </a:lnSpc>
              <a:spcBef>
                <a:spcPts val="1000"/>
              </a:spcBef>
              <a:spcAft>
                <a:spcPts val="0"/>
              </a:spcAft>
              <a:buClr>
                <a:srgbClr val="47C3D3"/>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Arial"/>
                <a:ea typeface="+mn-ea"/>
                <a:cs typeface="+mn-cs"/>
              </a:rPr>
              <a:t>👥 </a:t>
            </a:r>
            <a:r>
              <a:rPr kumimoji="0" lang="en-US" sz="2000" b="1" i="0" u="none" strike="noStrike" kern="1200" cap="none" spc="0" normalizeH="0" baseline="0" noProof="0" dirty="0">
                <a:ln>
                  <a:noFill/>
                </a:ln>
                <a:solidFill>
                  <a:srgbClr val="FFFFFF"/>
                </a:solidFill>
                <a:effectLst/>
                <a:uLnTx/>
                <a:uFillTx/>
                <a:latin typeface="Arial"/>
                <a:ea typeface="+mn-ea"/>
                <a:cs typeface="+mn-cs"/>
              </a:rPr>
              <a:t>Customer Insights:</a:t>
            </a:r>
            <a:r>
              <a:rPr kumimoji="0" lang="en-US" sz="2000" b="0" i="0" u="none" strike="noStrike" kern="1200" cap="none" spc="0" normalizeH="0" baseline="0" noProof="0" dirty="0">
                <a:ln>
                  <a:noFill/>
                </a:ln>
                <a:solidFill>
                  <a:srgbClr val="FFFFFF"/>
                </a:solidFill>
                <a:effectLst/>
                <a:uLnTx/>
                <a:uFillTx/>
                <a:latin typeface="Arial"/>
                <a:ea typeface="+mn-ea"/>
                <a:cs typeface="+mn-cs"/>
              </a:rPr>
              <a:t> Reveals buying patterns, preferences, and behaviors across different genders, age groups, and locations.</a:t>
            </a:r>
          </a:p>
          <a:p>
            <a:pPr marL="228600" marR="0" lvl="0" indent="-228600" algn="l" defTabSz="914400" rtl="0" eaLnBrk="1" fontAlgn="auto" latinLnBrk="0" hangingPunct="1">
              <a:lnSpc>
                <a:spcPct val="90000"/>
              </a:lnSpc>
              <a:spcBef>
                <a:spcPts val="1000"/>
              </a:spcBef>
              <a:spcAft>
                <a:spcPts val="0"/>
              </a:spcAft>
              <a:buClr>
                <a:srgbClr val="47C3D3"/>
              </a:buClr>
              <a:buSzTx/>
              <a:buFont typeface="Arial" panose="020B0604020202020204" pitchFamily="34" charset="0"/>
              <a:buChar char="•"/>
              <a:tabLst/>
              <a:defRPr/>
            </a:pPr>
            <a:endParaRPr kumimoji="0" lang="en-US" sz="2000" b="0" i="0" u="none" strike="noStrike" kern="1200" cap="none" spc="0" normalizeH="0" baseline="0" noProof="0" dirty="0">
              <a:ln>
                <a:noFill/>
              </a:ln>
              <a:solidFill>
                <a:srgbClr val="FFFFFF"/>
              </a:solidFill>
              <a:effectLst/>
              <a:uLnTx/>
              <a:uFillTx/>
              <a:latin typeface="Arial"/>
              <a:ea typeface="+mn-ea"/>
              <a:cs typeface="+mn-cs"/>
            </a:endParaRPr>
          </a:p>
          <a:p>
            <a:pPr marL="228600" marR="0" lvl="0" indent="-228600" algn="l" defTabSz="914400" rtl="0" eaLnBrk="1" fontAlgn="auto" latinLnBrk="0" hangingPunct="1">
              <a:lnSpc>
                <a:spcPct val="90000"/>
              </a:lnSpc>
              <a:spcBef>
                <a:spcPts val="1000"/>
              </a:spcBef>
              <a:spcAft>
                <a:spcPts val="0"/>
              </a:spcAft>
              <a:buClr>
                <a:srgbClr val="47C3D3"/>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Arial"/>
                <a:ea typeface="+mn-ea"/>
                <a:cs typeface="+mn-cs"/>
              </a:rPr>
              <a:t>📦 </a:t>
            </a:r>
            <a:r>
              <a:rPr kumimoji="0" lang="en-US" sz="2000" b="1" i="0" u="none" strike="noStrike" kern="1200" cap="none" spc="0" normalizeH="0" baseline="0" noProof="0" dirty="0">
                <a:ln>
                  <a:noFill/>
                </a:ln>
                <a:solidFill>
                  <a:srgbClr val="FFFFFF"/>
                </a:solidFill>
                <a:effectLst/>
                <a:uLnTx/>
                <a:uFillTx/>
                <a:latin typeface="Arial"/>
                <a:ea typeface="+mn-ea"/>
                <a:cs typeface="+mn-cs"/>
              </a:rPr>
              <a:t>Product Evaluation:</a:t>
            </a:r>
            <a:r>
              <a:rPr kumimoji="0" lang="en-US" sz="2000" b="0" i="0" u="none" strike="noStrike" kern="1200" cap="none" spc="0" normalizeH="0" baseline="0" noProof="0" dirty="0">
                <a:ln>
                  <a:noFill/>
                </a:ln>
                <a:solidFill>
                  <a:srgbClr val="FFFFFF"/>
                </a:solidFill>
                <a:effectLst/>
                <a:uLnTx/>
                <a:uFillTx/>
                <a:latin typeface="Arial"/>
                <a:ea typeface="+mn-ea"/>
                <a:cs typeface="+mn-cs"/>
              </a:rPr>
              <a:t> Identifies high-performing and underperforming products to guide inventory and marketing decisions.</a:t>
            </a:r>
          </a:p>
          <a:p>
            <a:pPr marL="228600" marR="0" lvl="0" indent="-228600" algn="l" defTabSz="914400" rtl="0" eaLnBrk="1" fontAlgn="auto" latinLnBrk="0" hangingPunct="1">
              <a:lnSpc>
                <a:spcPct val="90000"/>
              </a:lnSpc>
              <a:spcBef>
                <a:spcPts val="1000"/>
              </a:spcBef>
              <a:spcAft>
                <a:spcPts val="0"/>
              </a:spcAft>
              <a:buClr>
                <a:srgbClr val="47C3D3"/>
              </a:buClr>
              <a:buSzTx/>
              <a:buFont typeface="Arial" panose="020B0604020202020204" pitchFamily="34" charset="0"/>
              <a:buChar char="•"/>
              <a:tabLst/>
              <a:defRPr/>
            </a:pPr>
            <a:endParaRPr kumimoji="0" lang="en-US" sz="2000" b="0" i="0" u="none" strike="noStrike" kern="1200" cap="none" spc="0" normalizeH="0" baseline="0" noProof="0" dirty="0">
              <a:ln>
                <a:noFill/>
              </a:ln>
              <a:solidFill>
                <a:srgbClr val="FFFFFF"/>
              </a:solidFill>
              <a:effectLst/>
              <a:uLnTx/>
              <a:uFillTx/>
              <a:latin typeface="Arial"/>
              <a:ea typeface="+mn-ea"/>
              <a:cs typeface="+mn-cs"/>
            </a:endParaRPr>
          </a:p>
          <a:p>
            <a:pPr marL="228600" marR="0" lvl="0" indent="-228600" algn="l" defTabSz="914400" rtl="0" eaLnBrk="1" fontAlgn="auto" latinLnBrk="0" hangingPunct="1">
              <a:lnSpc>
                <a:spcPct val="90000"/>
              </a:lnSpc>
              <a:spcBef>
                <a:spcPts val="1000"/>
              </a:spcBef>
              <a:spcAft>
                <a:spcPts val="0"/>
              </a:spcAft>
              <a:buClr>
                <a:srgbClr val="47C3D3"/>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Arial"/>
                <a:ea typeface="+mn-ea"/>
                <a:cs typeface="+mn-cs"/>
              </a:rPr>
              <a:t>🚚 </a:t>
            </a:r>
            <a:r>
              <a:rPr kumimoji="0" lang="en-US" sz="2000" b="1" i="0" u="none" strike="noStrike" kern="1200" cap="none" spc="0" normalizeH="0" baseline="0" noProof="0" dirty="0">
                <a:ln>
                  <a:noFill/>
                </a:ln>
                <a:solidFill>
                  <a:srgbClr val="FFFFFF"/>
                </a:solidFill>
                <a:effectLst/>
                <a:uLnTx/>
                <a:uFillTx/>
                <a:latin typeface="Arial"/>
                <a:ea typeface="+mn-ea"/>
                <a:cs typeface="+mn-cs"/>
              </a:rPr>
              <a:t>Delivery &amp; Experience:</a:t>
            </a:r>
            <a:r>
              <a:rPr kumimoji="0" lang="en-US" sz="2000" b="0" i="0" u="none" strike="noStrike" kern="1200" cap="none" spc="0" normalizeH="0" baseline="0" noProof="0" dirty="0">
                <a:ln>
                  <a:noFill/>
                </a:ln>
                <a:solidFill>
                  <a:srgbClr val="FFFFFF"/>
                </a:solidFill>
                <a:effectLst/>
                <a:uLnTx/>
                <a:uFillTx/>
                <a:latin typeface="Arial"/>
                <a:ea typeface="+mn-ea"/>
                <a:cs typeface="+mn-cs"/>
              </a:rPr>
              <a:t> Allows analysis of delivery types and waiting times to improve logistics and customer service.</a:t>
            </a:r>
          </a:p>
        </p:txBody>
      </p:sp>
      <p:pic>
        <p:nvPicPr>
          <p:cNvPr id="3" name="Picture 2" descr="A person typing on a computer&#10;&#10;AI-generated content may be incorrect.">
            <a:extLst>
              <a:ext uri="{FF2B5EF4-FFF2-40B4-BE49-F238E27FC236}">
                <a16:creationId xmlns:a16="http://schemas.microsoft.com/office/drawing/2014/main" id="{22E519A3-CBE5-785D-5DEE-F55C447E7C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8969" y="2003031"/>
            <a:ext cx="3638527" cy="28519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64544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5673FB-4FB0-F797-F372-F1B762241271}"/>
            </a:ext>
          </a:extLst>
        </p:cNvPr>
        <p:cNvGrpSpPr/>
        <p:nvPr/>
      </p:nvGrpSpPr>
      <p:grpSpPr>
        <a:xfrm>
          <a:off x="0" y="0"/>
          <a:ext cx="0" cy="0"/>
          <a:chOff x="0" y="0"/>
          <a:chExt cx="0" cy="0"/>
        </a:xfrm>
      </p:grpSpPr>
      <p:sp>
        <p:nvSpPr>
          <p:cNvPr id="3" name="Title 3">
            <a:extLst>
              <a:ext uri="{FF2B5EF4-FFF2-40B4-BE49-F238E27FC236}">
                <a16:creationId xmlns:a16="http://schemas.microsoft.com/office/drawing/2014/main" id="{706092E6-1D9E-C3A4-B37F-DED1BE579258}"/>
              </a:ext>
            </a:extLst>
          </p:cNvPr>
          <p:cNvSpPr txBox="1">
            <a:spLocks/>
          </p:cNvSpPr>
          <p:nvPr/>
        </p:nvSpPr>
        <p:spPr>
          <a:xfrm>
            <a:off x="211409" y="847720"/>
            <a:ext cx="7569947" cy="5078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000" b="1" i="0" u="none" strike="noStrike" kern="1200" cap="none" spc="-70" normalizeH="0" baseline="0" noProof="0" dirty="0">
                <a:ln>
                  <a:noFill/>
                </a:ln>
                <a:solidFill>
                  <a:srgbClr val="FFFFFF"/>
                </a:solidFill>
                <a:effectLst/>
                <a:uLnTx/>
                <a:uFillTx/>
                <a:latin typeface="Trebuchet MS"/>
                <a:ea typeface="+mj-ea"/>
                <a:cs typeface="+mj-cs"/>
              </a:rPr>
              <a:t>Metric 1: “YEAR WISE CUSTOMER COUNT”</a:t>
            </a:r>
          </a:p>
        </p:txBody>
      </p:sp>
      <p:sp>
        <p:nvSpPr>
          <p:cNvPr id="9" name="Text Placeholder 7">
            <a:extLst>
              <a:ext uri="{FF2B5EF4-FFF2-40B4-BE49-F238E27FC236}">
                <a16:creationId xmlns:a16="http://schemas.microsoft.com/office/drawing/2014/main" id="{FCB86549-DC62-7631-7677-81CD9434119E}"/>
              </a:ext>
            </a:extLst>
          </p:cNvPr>
          <p:cNvSpPr txBox="1">
            <a:spLocks/>
          </p:cNvSpPr>
          <p:nvPr/>
        </p:nvSpPr>
        <p:spPr>
          <a:xfrm>
            <a:off x="1646291" y="4542778"/>
            <a:ext cx="10796081" cy="16795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1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2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47C3D3"/>
              </a:buClr>
              <a:buSzTx/>
              <a:buFont typeface="Arial" panose="020B0604020202020204" pitchFamily="34" charset="0"/>
              <a:buNone/>
              <a:tabLst/>
              <a:defRPr/>
            </a:pPr>
            <a:r>
              <a:rPr kumimoji="0" lang="en-US" sz="2000" b="1" i="0" u="sng" strike="noStrike" kern="1200" cap="none" spc="0" normalizeH="0" baseline="0" noProof="0" dirty="0">
                <a:ln>
                  <a:noFill/>
                </a:ln>
                <a:solidFill>
                  <a:srgbClr val="FF0000"/>
                </a:solidFill>
                <a:effectLst/>
                <a:uLnTx/>
                <a:uFillTx/>
                <a:latin typeface="Arial"/>
                <a:ea typeface="+mn-ea"/>
                <a:cs typeface="+mn-cs"/>
              </a:rPr>
              <a:t>INSIGHTS:</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a:p>
            <a:pPr marL="342900" marR="0" lvl="0" indent="-342900" algn="l" defTabSz="914400" rtl="0" eaLnBrk="1" fontAlgn="auto" latinLnBrk="0" hangingPunct="1">
              <a:lnSpc>
                <a:spcPct val="90000"/>
              </a:lnSpc>
              <a:spcBef>
                <a:spcPts val="1000"/>
              </a:spcBef>
              <a:spcAft>
                <a:spcPts val="0"/>
              </a:spcAft>
              <a:buClr>
                <a:srgbClr val="47C3D3"/>
              </a:buClr>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Customer count remained stable around </a:t>
            </a:r>
            <a:r>
              <a:rPr kumimoji="0" lang="en-US" sz="1800" b="1" i="0" u="none" strike="noStrike" kern="1200" cap="none" spc="0" normalizeH="0" baseline="0" noProof="0" dirty="0">
                <a:ln>
                  <a:noFill/>
                </a:ln>
                <a:solidFill>
                  <a:srgbClr val="FFFFFF"/>
                </a:solidFill>
                <a:effectLst/>
                <a:uLnTx/>
                <a:uFillTx/>
                <a:latin typeface="Arial"/>
                <a:ea typeface="+mn-ea"/>
                <a:cs typeface="+mn-cs"/>
              </a:rPr>
              <a:t>17K–18K </a:t>
            </a:r>
            <a:r>
              <a:rPr kumimoji="0" lang="en-US" sz="1800" b="0" i="0" u="none" strike="noStrike" kern="1200" cap="none" spc="0" normalizeH="0" baseline="0" noProof="0" dirty="0">
                <a:ln>
                  <a:noFill/>
                </a:ln>
                <a:solidFill>
                  <a:srgbClr val="FFFFFF"/>
                </a:solidFill>
                <a:effectLst/>
                <a:uLnTx/>
                <a:uFillTx/>
                <a:latin typeface="Arial"/>
                <a:ea typeface="+mn-ea"/>
                <a:cs typeface="+mn-cs"/>
              </a:rPr>
              <a:t>from 2015 to 2019.</a:t>
            </a:r>
          </a:p>
          <a:p>
            <a:pPr marL="342900" marR="0" lvl="0" indent="-342900" algn="l" defTabSz="914400" rtl="0" eaLnBrk="1" fontAlgn="auto" latinLnBrk="0" hangingPunct="1">
              <a:lnSpc>
                <a:spcPct val="90000"/>
              </a:lnSpc>
              <a:spcBef>
                <a:spcPts val="1000"/>
              </a:spcBef>
              <a:spcAft>
                <a:spcPts val="0"/>
              </a:spcAft>
              <a:buClr>
                <a:srgbClr val="47C3D3"/>
              </a:buClr>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A slight dip in </a:t>
            </a:r>
            <a:r>
              <a:rPr kumimoji="0" lang="en-US" sz="1800" b="1" i="0" u="none" strike="noStrike" kern="1200" cap="none" spc="0" normalizeH="0" baseline="0" noProof="0" dirty="0">
                <a:ln>
                  <a:noFill/>
                </a:ln>
                <a:solidFill>
                  <a:srgbClr val="FFFFFF"/>
                </a:solidFill>
                <a:effectLst/>
                <a:uLnTx/>
                <a:uFillTx/>
                <a:latin typeface="Arial"/>
                <a:ea typeface="+mn-ea"/>
                <a:cs typeface="+mn-cs"/>
              </a:rPr>
              <a:t>2018 (17K)</a:t>
            </a:r>
            <a:r>
              <a:rPr kumimoji="0" lang="en-US" sz="1800" b="0" i="0" u="none" strike="noStrike" kern="1200" cap="none" spc="0" normalizeH="0" baseline="0" noProof="0" dirty="0">
                <a:ln>
                  <a:noFill/>
                </a:ln>
                <a:solidFill>
                  <a:srgbClr val="FFFFFF"/>
                </a:solidFill>
                <a:effectLst/>
                <a:uLnTx/>
                <a:uFillTx/>
                <a:latin typeface="Arial"/>
                <a:ea typeface="+mn-ea"/>
                <a:cs typeface="+mn-cs"/>
              </a:rPr>
              <a:t>, possibly due to service or product-related issues.</a:t>
            </a:r>
          </a:p>
          <a:p>
            <a:pPr marL="342900" marR="0" lvl="0" indent="-342900" algn="l" defTabSz="914400" rtl="0" eaLnBrk="1" fontAlgn="auto" latinLnBrk="0" hangingPunct="1">
              <a:lnSpc>
                <a:spcPct val="90000"/>
              </a:lnSpc>
              <a:spcBef>
                <a:spcPts val="1000"/>
              </a:spcBef>
              <a:spcAft>
                <a:spcPts val="0"/>
              </a:spcAft>
              <a:buClr>
                <a:srgbClr val="47C3D3"/>
              </a:buClr>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Significant growth in </a:t>
            </a:r>
            <a:r>
              <a:rPr kumimoji="0" lang="en-US" sz="1800" b="1" i="0" u="none" strike="noStrike" kern="1200" cap="none" spc="0" normalizeH="0" baseline="0" noProof="0" dirty="0">
                <a:ln>
                  <a:noFill/>
                </a:ln>
                <a:solidFill>
                  <a:srgbClr val="FFFFFF"/>
                </a:solidFill>
                <a:effectLst/>
                <a:uLnTx/>
                <a:uFillTx/>
                <a:latin typeface="Arial"/>
                <a:ea typeface="+mn-ea"/>
                <a:cs typeface="+mn-cs"/>
              </a:rPr>
              <a:t>2020 (25K), </a:t>
            </a:r>
            <a:r>
              <a:rPr kumimoji="0" lang="en-US" sz="1800" b="0" i="0" u="none" strike="noStrike" kern="1200" cap="none" spc="0" normalizeH="0" baseline="0" noProof="0" dirty="0">
                <a:ln>
                  <a:noFill/>
                </a:ln>
                <a:solidFill>
                  <a:srgbClr val="FFFFFF"/>
                </a:solidFill>
                <a:effectLst/>
                <a:uLnTx/>
                <a:uFillTx/>
                <a:latin typeface="Arial"/>
                <a:ea typeface="+mn-ea"/>
                <a:cs typeface="+mn-cs"/>
              </a:rPr>
              <a:t>indicating a successful strategy or higher demand</a:t>
            </a:r>
          </a:p>
          <a:p>
            <a:pPr marL="228600" marR="0" lvl="0" indent="-228600" algn="l" defTabSz="914400" rtl="0" eaLnBrk="1" fontAlgn="auto" latinLnBrk="0" hangingPunct="1">
              <a:lnSpc>
                <a:spcPct val="90000"/>
              </a:lnSpc>
              <a:spcBef>
                <a:spcPts val="1000"/>
              </a:spcBef>
              <a:spcAft>
                <a:spcPts val="0"/>
              </a:spcAft>
              <a:buClr>
                <a:srgbClr val="47C3D3"/>
              </a:buClr>
              <a:buSzTx/>
              <a:buFont typeface="Arial" panose="020B0604020202020204" pitchFamily="34" charset="0"/>
              <a:buChar char="•"/>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pic>
        <p:nvPicPr>
          <p:cNvPr id="7" name="Picture 6">
            <a:extLst>
              <a:ext uri="{FF2B5EF4-FFF2-40B4-BE49-F238E27FC236}">
                <a16:creationId xmlns:a16="http://schemas.microsoft.com/office/drawing/2014/main" id="{39688DD7-03CC-5556-7284-95A2241916CE}"/>
              </a:ext>
            </a:extLst>
          </p:cNvPr>
          <p:cNvPicPr>
            <a:picLocks noChangeAspect="1"/>
          </p:cNvPicPr>
          <p:nvPr/>
        </p:nvPicPr>
        <p:blipFill>
          <a:blip r:embed="rId2"/>
          <a:srcRect l="1314" t="3759" r="5336" b="6571"/>
          <a:stretch>
            <a:fillRect/>
          </a:stretch>
        </p:blipFill>
        <p:spPr>
          <a:xfrm>
            <a:off x="2667000" y="1670181"/>
            <a:ext cx="6858000" cy="2323322"/>
          </a:xfrm>
          <a:prstGeom prst="roundRect">
            <a:avLst>
              <a:gd name="adj" fmla="val 4176"/>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922722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B4B33-092B-BDC6-725F-8602B31CBCA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041D1C4-9523-3B95-1B0C-630A14EA9B27}"/>
              </a:ext>
            </a:extLst>
          </p:cNvPr>
          <p:cNvSpPr>
            <a:spLocks noGrp="1"/>
          </p:cNvSpPr>
          <p:nvPr>
            <p:ph type="title"/>
          </p:nvPr>
        </p:nvSpPr>
        <p:spPr>
          <a:xfrm>
            <a:off x="274164" y="302288"/>
            <a:ext cx="6848531" cy="895630"/>
          </a:xfrm>
        </p:spPr>
        <p:txBody>
          <a:bodyPr/>
          <a:lstStyle/>
          <a:p>
            <a:r>
              <a:rPr lang="en-US" sz="2900" dirty="0"/>
              <a:t>Metric 2: “REVENUE BREAKDOWN BY YEAR AND BY PRODUCT”</a:t>
            </a:r>
          </a:p>
        </p:txBody>
      </p:sp>
      <p:pic>
        <p:nvPicPr>
          <p:cNvPr id="7" name="Picture 6">
            <a:extLst>
              <a:ext uri="{FF2B5EF4-FFF2-40B4-BE49-F238E27FC236}">
                <a16:creationId xmlns:a16="http://schemas.microsoft.com/office/drawing/2014/main" id="{B23A5691-D262-28AD-1B04-B8F5FC33973D}"/>
              </a:ext>
            </a:extLst>
          </p:cNvPr>
          <p:cNvPicPr>
            <a:picLocks noChangeAspect="1"/>
          </p:cNvPicPr>
          <p:nvPr/>
        </p:nvPicPr>
        <p:blipFill>
          <a:blip r:embed="rId2"/>
          <a:stretch>
            <a:fillRect/>
          </a:stretch>
        </p:blipFill>
        <p:spPr>
          <a:xfrm>
            <a:off x="2968966" y="1446927"/>
            <a:ext cx="6254068" cy="3052265"/>
          </a:xfrm>
          <a:prstGeom prst="roundRect">
            <a:avLst>
              <a:gd name="adj" fmla="val 4620"/>
            </a:avLst>
          </a:prstGeom>
          <a:solidFill>
            <a:srgbClr val="FFFFFF">
              <a:shade val="85000"/>
            </a:srgbClr>
          </a:solidFill>
          <a:ln>
            <a:noFill/>
          </a:ln>
          <a:effectLst>
            <a:reflection blurRad="12700" stA="38000" endPos="28000" dist="5000" dir="5400000" sy="-100000" algn="bl" rotWithShape="0"/>
          </a:effectLst>
        </p:spPr>
      </p:pic>
      <p:sp>
        <p:nvSpPr>
          <p:cNvPr id="11" name="TextBox 10">
            <a:extLst>
              <a:ext uri="{FF2B5EF4-FFF2-40B4-BE49-F238E27FC236}">
                <a16:creationId xmlns:a16="http://schemas.microsoft.com/office/drawing/2014/main" id="{443CD6C2-E895-4F0B-2385-8EAB236FDB52}"/>
              </a:ext>
            </a:extLst>
          </p:cNvPr>
          <p:cNvSpPr txBox="1"/>
          <p:nvPr/>
        </p:nvSpPr>
        <p:spPr>
          <a:xfrm>
            <a:off x="919015" y="4681755"/>
            <a:ext cx="10913807" cy="18158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0000"/>
                </a:solidFill>
                <a:effectLst/>
                <a:uLnTx/>
                <a:uFillTx/>
                <a:latin typeface="Arial"/>
                <a:ea typeface="+mn-ea"/>
                <a:cs typeface="+mn-cs"/>
              </a:rPr>
              <a:t>INSIGHTS: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a:t>
            </a:r>
            <a:r>
              <a:rPr kumimoji="0" lang="en-US" sz="1800" b="1" i="0" u="none" strike="noStrike" kern="1200" cap="none" spc="0" normalizeH="0" baseline="0" noProof="0" dirty="0">
                <a:ln>
                  <a:noFill/>
                </a:ln>
                <a:solidFill>
                  <a:srgbClr val="FFFFFF"/>
                </a:solidFill>
                <a:effectLst/>
                <a:uLnTx/>
                <a:uFillTx/>
                <a:latin typeface="Arial"/>
                <a:ea typeface="+mn-ea"/>
                <a:cs typeface="+mn-cs"/>
              </a:rPr>
              <a:t>2020 had the highest total sales</a:t>
            </a:r>
            <a:r>
              <a:rPr kumimoji="0" lang="en-US" sz="1800" b="0" i="0" u="none" strike="noStrike" kern="1200" cap="none" spc="0" normalizeH="0" baseline="0" noProof="0" dirty="0">
                <a:ln>
                  <a:noFill/>
                </a:ln>
                <a:solidFill>
                  <a:srgbClr val="FFFFFF"/>
                </a:solidFill>
                <a:effectLst/>
                <a:uLnTx/>
                <a:uFillTx/>
                <a:latin typeface="Arial"/>
                <a:ea typeface="+mn-ea"/>
                <a:cs typeface="+mn-cs"/>
              </a:rPr>
              <a:t> (23.97M), indicating strong growth and market expansion.</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a:t>
            </a:r>
            <a:r>
              <a:rPr kumimoji="0" lang="en-US" sz="1800" b="1" i="0" u="none" strike="noStrike" kern="1200" cap="none" spc="0" normalizeH="0" baseline="0" noProof="0" dirty="0">
                <a:ln>
                  <a:noFill/>
                </a:ln>
                <a:solidFill>
                  <a:srgbClr val="FFFFFF"/>
                </a:solidFill>
                <a:effectLst/>
                <a:uLnTx/>
                <a:uFillTx/>
                <a:latin typeface="Arial"/>
                <a:ea typeface="+mn-ea"/>
                <a:cs typeface="+mn-cs"/>
              </a:rPr>
              <a:t>Consistent top sellers</a:t>
            </a:r>
            <a:r>
              <a:rPr kumimoji="0" lang="en-US" sz="1800" b="0" i="0" u="none" strike="noStrike" kern="1200" cap="none" spc="0" normalizeH="0" baseline="0" noProof="0" dirty="0">
                <a:ln>
                  <a:noFill/>
                </a:ln>
                <a:solidFill>
                  <a:srgbClr val="FFFFFF"/>
                </a:solidFill>
                <a:effectLst/>
                <a:uLnTx/>
                <a:uFillTx/>
                <a:latin typeface="Arial"/>
                <a:ea typeface="+mn-ea"/>
                <a:cs typeface="+mn-cs"/>
              </a:rPr>
              <a:t> include products like </a:t>
            </a:r>
            <a:r>
              <a:rPr kumimoji="0" lang="en-US" sz="1800" b="0" i="1" u="none" strike="noStrike" kern="1200" cap="none" spc="0" normalizeH="0" baseline="0" noProof="0" dirty="0">
                <a:ln>
                  <a:noFill/>
                </a:ln>
                <a:solidFill>
                  <a:srgbClr val="FFFFFF"/>
                </a:solidFill>
                <a:effectLst/>
                <a:uLnTx/>
                <a:uFillTx/>
                <a:latin typeface="Arial"/>
                <a:ea typeface="+mn-ea"/>
                <a:cs typeface="+mn-cs"/>
              </a:rPr>
              <a:t>Amazon Fire HD 8</a:t>
            </a:r>
            <a:r>
              <a:rPr kumimoji="0" lang="en-US" sz="1800" b="0" i="0" u="none" strike="noStrike" kern="1200" cap="none" spc="0" normalizeH="0" baseline="0" noProof="0" dirty="0">
                <a:ln>
                  <a:noFill/>
                </a:ln>
                <a:solidFill>
                  <a:srgbClr val="FFFFFF"/>
                </a:solidFill>
                <a:effectLst/>
                <a:uLnTx/>
                <a:uFillTx/>
                <a:latin typeface="Arial"/>
                <a:ea typeface="+mn-ea"/>
                <a:cs typeface="+mn-cs"/>
              </a:rPr>
              <a:t> and </a:t>
            </a:r>
            <a:r>
              <a:rPr kumimoji="0" lang="en-US" sz="1800" b="0" i="1" u="none" strike="noStrike" kern="1200" cap="none" spc="0" normalizeH="0" baseline="0" noProof="0" dirty="0">
                <a:ln>
                  <a:noFill/>
                </a:ln>
                <a:solidFill>
                  <a:srgbClr val="FFFFFF"/>
                </a:solidFill>
                <a:effectLst/>
                <a:uLnTx/>
                <a:uFillTx/>
                <a:latin typeface="Arial"/>
                <a:ea typeface="+mn-ea"/>
                <a:cs typeface="+mn-cs"/>
              </a:rPr>
              <a:t>Canon EOS Cameras</a:t>
            </a:r>
            <a:r>
              <a:rPr kumimoji="0" lang="en-US" sz="1800" b="0" i="0" u="none" strike="noStrike" kern="1200" cap="none" spc="0" normalizeH="0" baseline="0" noProof="0" dirty="0">
                <a:ln>
                  <a:noFill/>
                </a:ln>
                <a:solidFill>
                  <a:srgbClr val="FFFFFF"/>
                </a:solidFill>
                <a:effectLst/>
                <a:uLnTx/>
                <a:uFillTx/>
                <a:latin typeface="Arial"/>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Several products showed </a:t>
            </a:r>
            <a:r>
              <a:rPr kumimoji="0" lang="en-US" sz="1800" b="1" i="0" u="none" strike="noStrike" kern="1200" cap="none" spc="0" normalizeH="0" baseline="0" noProof="0" dirty="0">
                <a:ln>
                  <a:noFill/>
                </a:ln>
                <a:solidFill>
                  <a:srgbClr val="FFFFFF"/>
                </a:solidFill>
                <a:effectLst/>
                <a:uLnTx/>
                <a:uFillTx/>
                <a:latin typeface="Arial"/>
                <a:ea typeface="+mn-ea"/>
                <a:cs typeface="+mn-cs"/>
              </a:rPr>
              <a:t>declining or flat sales trends</a:t>
            </a:r>
            <a:r>
              <a:rPr kumimoji="0" lang="en-US" sz="1800" b="0" i="0" u="none" strike="noStrike" kern="1200" cap="none" spc="0" normalizeH="0" baseline="0" noProof="0" dirty="0">
                <a:ln>
                  <a:noFill/>
                </a:ln>
                <a:solidFill>
                  <a:srgbClr val="FFFFFF"/>
                </a:solidFill>
                <a:effectLst/>
                <a:uLnTx/>
                <a:uFillTx/>
                <a:latin typeface="Arial"/>
                <a:ea typeface="+mn-ea"/>
                <a:cs typeface="+mn-cs"/>
              </a:rPr>
              <a:t> over the years, especially post-2017</a:t>
            </a:r>
            <a:r>
              <a:rPr kumimoji="0" lang="en-US" sz="1800" b="0" i="0" u="none" strike="noStrike" kern="1200" cap="none" spc="0" normalizeH="0" baseline="0" noProof="0" dirty="0">
                <a:ln>
                  <a:noFill/>
                </a:ln>
                <a:solidFill>
                  <a:srgbClr val="000000"/>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56365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251B5-A548-34D3-B1E2-660879AFFD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F8DF226-2658-2EFD-86DF-6F6F993D0899}"/>
              </a:ext>
            </a:extLst>
          </p:cNvPr>
          <p:cNvSpPr>
            <a:spLocks noGrp="1"/>
          </p:cNvSpPr>
          <p:nvPr>
            <p:ph type="title"/>
          </p:nvPr>
        </p:nvSpPr>
        <p:spPr>
          <a:xfrm>
            <a:off x="274164" y="847720"/>
            <a:ext cx="7569947" cy="493981"/>
          </a:xfrm>
        </p:spPr>
        <p:txBody>
          <a:bodyPr/>
          <a:lstStyle/>
          <a:p>
            <a:r>
              <a:rPr lang="en-US" sz="2900" dirty="0"/>
              <a:t>Metric 3: “TOTAL REVENUE BY LOCATION”</a:t>
            </a:r>
          </a:p>
        </p:txBody>
      </p:sp>
      <p:pic>
        <p:nvPicPr>
          <p:cNvPr id="3" name="Picture 2">
            <a:extLst>
              <a:ext uri="{FF2B5EF4-FFF2-40B4-BE49-F238E27FC236}">
                <a16:creationId xmlns:a16="http://schemas.microsoft.com/office/drawing/2014/main" id="{34679D1A-E605-5997-5DA3-BD8FA40018E3}"/>
              </a:ext>
            </a:extLst>
          </p:cNvPr>
          <p:cNvPicPr>
            <a:picLocks noChangeAspect="1"/>
          </p:cNvPicPr>
          <p:nvPr/>
        </p:nvPicPr>
        <p:blipFill>
          <a:blip r:embed="rId2"/>
          <a:srcRect t="1754" r="919" b="-1"/>
          <a:stretch>
            <a:fillRect/>
          </a:stretch>
        </p:blipFill>
        <p:spPr>
          <a:xfrm>
            <a:off x="2901691" y="1586204"/>
            <a:ext cx="5694912" cy="3171841"/>
          </a:xfrm>
          <a:prstGeom prst="roundRect">
            <a:avLst>
              <a:gd name="adj" fmla="val 3005"/>
            </a:avLst>
          </a:prstGeom>
          <a:solidFill>
            <a:srgbClr val="FFFFFF">
              <a:shade val="85000"/>
            </a:srgbClr>
          </a:solidFill>
          <a:ln>
            <a:noFill/>
          </a:ln>
          <a:effectLst>
            <a:reflection blurRad="12700" stA="38000" endPos="28000" dist="5000" dir="5400000" sy="-100000" algn="bl" rotWithShape="0"/>
          </a:effectLst>
        </p:spPr>
      </p:pic>
      <p:sp>
        <p:nvSpPr>
          <p:cNvPr id="16" name="TextBox 15">
            <a:extLst>
              <a:ext uri="{FF2B5EF4-FFF2-40B4-BE49-F238E27FC236}">
                <a16:creationId xmlns:a16="http://schemas.microsoft.com/office/drawing/2014/main" id="{BD57A0BE-BF13-6F7A-3AE5-02036D9425E4}"/>
              </a:ext>
            </a:extLst>
          </p:cNvPr>
          <p:cNvSpPr txBox="1"/>
          <p:nvPr/>
        </p:nvSpPr>
        <p:spPr>
          <a:xfrm>
            <a:off x="533401" y="4758045"/>
            <a:ext cx="11185848" cy="206210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0000"/>
                </a:solidFill>
                <a:effectLst/>
                <a:uLnTx/>
                <a:uFillTx/>
                <a:latin typeface="Arial"/>
                <a:ea typeface="+mn-ea"/>
                <a:cs typeface="+mn-cs"/>
              </a:rPr>
              <a:t>INSIGHTS: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a:t>
            </a:r>
            <a:r>
              <a:rPr kumimoji="0" lang="en-US" sz="1800" b="1" i="0" u="none" strike="noStrike" kern="1200" cap="none" spc="0" normalizeH="0" baseline="0" noProof="0" dirty="0">
                <a:ln>
                  <a:noFill/>
                </a:ln>
                <a:solidFill>
                  <a:srgbClr val="FFFFFF"/>
                </a:solidFill>
                <a:effectLst/>
                <a:uLnTx/>
                <a:uFillTx/>
                <a:latin typeface="Arial"/>
                <a:ea typeface="+mn-ea"/>
                <a:cs typeface="+mn-cs"/>
              </a:rPr>
              <a:t>Greater Accra leads</a:t>
            </a:r>
            <a:r>
              <a:rPr kumimoji="0" lang="en-US" sz="1800" b="0" i="0" u="none" strike="noStrike" kern="1200" cap="none" spc="0" normalizeH="0" baseline="0" noProof="0" dirty="0">
                <a:ln>
                  <a:noFill/>
                </a:ln>
                <a:solidFill>
                  <a:srgbClr val="FFFFFF"/>
                </a:solidFill>
                <a:effectLst/>
                <a:uLnTx/>
                <a:uFillTx/>
                <a:latin typeface="Arial"/>
                <a:ea typeface="+mn-ea"/>
                <a:cs typeface="+mn-cs"/>
              </a:rPr>
              <a:t> with the highest revenue (27.1M), followed by Ashanti and Western regions.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a:t>
            </a:r>
            <a:r>
              <a:rPr kumimoji="0" lang="en-US" sz="1800" b="1" i="0" u="none" strike="noStrike" kern="1200" cap="none" spc="0" normalizeH="0" baseline="0" noProof="0" dirty="0">
                <a:ln>
                  <a:noFill/>
                </a:ln>
                <a:solidFill>
                  <a:srgbClr val="FFFFFF"/>
                </a:solidFill>
                <a:effectLst/>
                <a:uLnTx/>
                <a:uFillTx/>
                <a:latin typeface="Arial"/>
                <a:ea typeface="+mn-ea"/>
                <a:cs typeface="+mn-cs"/>
              </a:rPr>
              <a:t>Locations like Bono East, </a:t>
            </a:r>
            <a:r>
              <a:rPr kumimoji="0" lang="en-US" sz="1800" b="1" i="0" u="none" strike="noStrike" kern="1200" cap="none" spc="0" normalizeH="0" baseline="0" noProof="0" dirty="0" err="1">
                <a:ln>
                  <a:noFill/>
                </a:ln>
                <a:solidFill>
                  <a:srgbClr val="FFFFFF"/>
                </a:solidFill>
                <a:effectLst/>
                <a:uLnTx/>
                <a:uFillTx/>
                <a:latin typeface="Arial"/>
                <a:ea typeface="+mn-ea"/>
                <a:cs typeface="+mn-cs"/>
              </a:rPr>
              <a:t>Dawhenya</a:t>
            </a:r>
            <a:r>
              <a:rPr kumimoji="0" lang="en-US" sz="1800" b="1" i="0" u="none" strike="noStrike" kern="1200" cap="none" spc="0" normalizeH="0" baseline="0" noProof="0" dirty="0">
                <a:ln>
                  <a:noFill/>
                </a:ln>
                <a:solidFill>
                  <a:srgbClr val="FFFFFF"/>
                </a:solidFill>
                <a:effectLst/>
                <a:uLnTx/>
                <a:uFillTx/>
                <a:latin typeface="Arial"/>
                <a:ea typeface="+mn-ea"/>
                <a:cs typeface="+mn-cs"/>
              </a:rPr>
              <a:t>, and Amasaman</a:t>
            </a:r>
            <a:r>
              <a:rPr kumimoji="0" lang="en-US" sz="1800" b="0" i="0" u="none" strike="noStrike" kern="1200" cap="none" spc="0" normalizeH="0" baseline="0" noProof="0" dirty="0">
                <a:ln>
                  <a:noFill/>
                </a:ln>
                <a:solidFill>
                  <a:srgbClr val="FFFFFF"/>
                </a:solidFill>
                <a:effectLst/>
                <a:uLnTx/>
                <a:uFillTx/>
                <a:latin typeface="Arial"/>
                <a:ea typeface="+mn-ea"/>
                <a:cs typeface="+mn-cs"/>
              </a:rPr>
              <a:t> generate very low revenue (under 0.2M)</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a:t>
            </a:r>
            <a:r>
              <a:rPr kumimoji="0" lang="en-US" sz="1800" b="1" i="0" u="none" strike="noStrike" kern="1200" cap="none" spc="0" normalizeH="0" baseline="0" noProof="0" dirty="0">
                <a:ln>
                  <a:noFill/>
                </a:ln>
                <a:solidFill>
                  <a:srgbClr val="FFFFFF"/>
                </a:solidFill>
                <a:effectLst/>
                <a:uLnTx/>
                <a:uFillTx/>
                <a:latin typeface="Arial"/>
                <a:ea typeface="+mn-ea"/>
                <a:cs typeface="+mn-cs"/>
              </a:rPr>
              <a:t>Top 5 locations</a:t>
            </a:r>
            <a:r>
              <a:rPr kumimoji="0" lang="en-US" sz="1800" b="0" i="0" u="none" strike="noStrike" kern="1200" cap="none" spc="0" normalizeH="0" baseline="0" noProof="0" dirty="0">
                <a:ln>
                  <a:noFill/>
                </a:ln>
                <a:solidFill>
                  <a:srgbClr val="FFFFFF"/>
                </a:solidFill>
                <a:effectLst/>
                <a:uLnTx/>
                <a:uFillTx/>
                <a:latin typeface="Arial"/>
                <a:ea typeface="+mn-ea"/>
                <a:cs typeface="+mn-cs"/>
              </a:rPr>
              <a:t> alone contribute a </a:t>
            </a:r>
            <a:r>
              <a:rPr kumimoji="0" lang="en-US" sz="1800" b="1" i="0" u="none" strike="noStrike" kern="1200" cap="none" spc="0" normalizeH="0" baseline="0" noProof="0" dirty="0">
                <a:ln>
                  <a:noFill/>
                </a:ln>
                <a:solidFill>
                  <a:srgbClr val="FFFFFF"/>
                </a:solidFill>
                <a:effectLst/>
                <a:uLnTx/>
                <a:uFillTx/>
                <a:latin typeface="Arial"/>
                <a:ea typeface="+mn-ea"/>
                <a:cs typeface="+mn-cs"/>
              </a:rPr>
              <a:t>major portion of total revenue</a:t>
            </a:r>
            <a:r>
              <a:rPr kumimoji="0" lang="en-US" sz="1800" b="0" i="0" u="none" strike="noStrike" kern="1200" cap="none" spc="0" normalizeH="0" baseline="0" noProof="0" dirty="0">
                <a:ln>
                  <a:noFill/>
                </a:ln>
                <a:solidFill>
                  <a:srgbClr val="FFFFFF"/>
                </a:solidFill>
                <a:effectLst/>
                <a:uLnTx/>
                <a:uFillTx/>
                <a:latin typeface="Arial"/>
                <a:ea typeface="+mn-ea"/>
                <a:cs typeface="+mn-cs"/>
              </a:rPr>
              <a:t>, showing strong regional imbalance.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102989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B96AF-5093-CC13-AC54-5C474980E4F9}"/>
            </a:ext>
          </a:extLst>
        </p:cNvPr>
        <p:cNvGrpSpPr/>
        <p:nvPr/>
      </p:nvGrpSpPr>
      <p:grpSpPr>
        <a:xfrm>
          <a:off x="0" y="0"/>
          <a:ext cx="0" cy="0"/>
          <a:chOff x="0" y="0"/>
          <a:chExt cx="0" cy="0"/>
        </a:xfrm>
      </p:grpSpPr>
      <p:sp>
        <p:nvSpPr>
          <p:cNvPr id="3" name="Title 3">
            <a:extLst>
              <a:ext uri="{FF2B5EF4-FFF2-40B4-BE49-F238E27FC236}">
                <a16:creationId xmlns:a16="http://schemas.microsoft.com/office/drawing/2014/main" id="{BD9E6EC9-1C96-C37F-E6DA-EF428DDBADD8}"/>
              </a:ext>
            </a:extLst>
          </p:cNvPr>
          <p:cNvSpPr txBox="1">
            <a:spLocks/>
          </p:cNvSpPr>
          <p:nvPr/>
        </p:nvSpPr>
        <p:spPr>
          <a:xfrm>
            <a:off x="462424" y="847720"/>
            <a:ext cx="8970334" cy="5078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000" b="1" i="0" u="none" strike="noStrike" kern="1200" cap="none" spc="-70" normalizeH="0" baseline="0" noProof="0" dirty="0">
                <a:ln>
                  <a:noFill/>
                </a:ln>
                <a:solidFill>
                  <a:srgbClr val="FFFFFF"/>
                </a:solidFill>
                <a:effectLst/>
                <a:uLnTx/>
                <a:uFillTx/>
                <a:latin typeface="Trebuchet MS"/>
                <a:ea typeface="+mj-ea"/>
                <a:cs typeface="+mj-cs"/>
              </a:rPr>
              <a:t>Metric 4: “TOTAL REVENUE MONTH WISE”</a:t>
            </a:r>
          </a:p>
        </p:txBody>
      </p:sp>
      <p:sp>
        <p:nvSpPr>
          <p:cNvPr id="11" name="TextBox 10">
            <a:extLst>
              <a:ext uri="{FF2B5EF4-FFF2-40B4-BE49-F238E27FC236}">
                <a16:creationId xmlns:a16="http://schemas.microsoft.com/office/drawing/2014/main" id="{6FC62F61-C47F-8A24-9492-7D417163ED54}"/>
              </a:ext>
            </a:extLst>
          </p:cNvPr>
          <p:cNvSpPr txBox="1"/>
          <p:nvPr/>
        </p:nvSpPr>
        <p:spPr>
          <a:xfrm>
            <a:off x="1118420" y="4689834"/>
            <a:ext cx="10540180" cy="178510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0000"/>
                </a:solidFill>
                <a:effectLst/>
                <a:uLnTx/>
                <a:uFillTx/>
                <a:latin typeface="Arial"/>
                <a:ea typeface="+mn-ea"/>
                <a:cs typeface="+mn-cs"/>
              </a:rPr>
              <a:t>INSIGHTS:</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a:t>
            </a:r>
            <a:r>
              <a:rPr kumimoji="0" lang="en-US" sz="1800" b="1" i="0" u="none" strike="noStrike" kern="1200" cap="none" spc="0" normalizeH="0" baseline="0" noProof="0" dirty="0">
                <a:ln>
                  <a:noFill/>
                </a:ln>
                <a:solidFill>
                  <a:srgbClr val="FFFFFF"/>
                </a:solidFill>
                <a:effectLst/>
                <a:uLnTx/>
                <a:uFillTx/>
                <a:latin typeface="Arial"/>
                <a:ea typeface="+mn-ea"/>
                <a:cs typeface="+mn-cs"/>
              </a:rPr>
              <a:t>January (10.11M)</a:t>
            </a:r>
            <a:r>
              <a:rPr kumimoji="0" lang="en-US" sz="1800" b="0" i="0" u="none" strike="noStrike" kern="1200" cap="none" spc="0" normalizeH="0" baseline="0" noProof="0" dirty="0">
                <a:ln>
                  <a:noFill/>
                </a:ln>
                <a:solidFill>
                  <a:srgbClr val="FFFFFF"/>
                </a:solidFill>
                <a:effectLst/>
                <a:uLnTx/>
                <a:uFillTx/>
                <a:latin typeface="Arial"/>
                <a:ea typeface="+mn-ea"/>
                <a:cs typeface="+mn-cs"/>
              </a:rPr>
              <a:t> had the highest revenue, likely due to post-holiday shopping.</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a:t>
            </a:r>
            <a:r>
              <a:rPr kumimoji="0" lang="en-US" sz="1800" b="1" i="0" u="none" strike="noStrike" kern="1200" cap="none" spc="0" normalizeH="0" baseline="0" noProof="0" dirty="0">
                <a:ln>
                  <a:noFill/>
                </a:ln>
                <a:solidFill>
                  <a:srgbClr val="FFFFFF"/>
                </a:solidFill>
                <a:effectLst/>
                <a:uLnTx/>
                <a:uFillTx/>
                <a:latin typeface="Arial"/>
                <a:ea typeface="+mn-ea"/>
                <a:cs typeface="+mn-cs"/>
              </a:rPr>
              <a:t>September (8.05M)</a:t>
            </a:r>
            <a:r>
              <a:rPr kumimoji="0" lang="en-US" sz="1800" b="0" i="0" u="none" strike="noStrike" kern="1200" cap="none" spc="0" normalizeH="0" baseline="0" noProof="0" dirty="0">
                <a:ln>
                  <a:noFill/>
                </a:ln>
                <a:solidFill>
                  <a:srgbClr val="FFFFFF"/>
                </a:solidFill>
                <a:effectLst/>
                <a:uLnTx/>
                <a:uFillTx/>
                <a:latin typeface="Arial"/>
                <a:ea typeface="+mn-ea"/>
                <a:cs typeface="+mn-cs"/>
              </a:rPr>
              <a:t> saw the lowest revenue, indicating a potential seasonal dip.</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Revenue shows </a:t>
            </a:r>
            <a:r>
              <a:rPr kumimoji="0" lang="en-US" sz="1800" b="1" i="0" u="none" strike="noStrike" kern="1200" cap="none" spc="0" normalizeH="0" baseline="0" noProof="0" dirty="0">
                <a:ln>
                  <a:noFill/>
                </a:ln>
                <a:solidFill>
                  <a:srgbClr val="FFFFFF"/>
                </a:solidFill>
                <a:effectLst/>
                <a:uLnTx/>
                <a:uFillTx/>
                <a:latin typeface="Arial"/>
                <a:ea typeface="+mn-ea"/>
                <a:cs typeface="+mn-cs"/>
              </a:rPr>
              <a:t>fluctuations throughout the year</a:t>
            </a:r>
            <a:r>
              <a:rPr kumimoji="0" lang="en-US" sz="1800" b="0" i="0" u="none" strike="noStrike" kern="1200" cap="none" spc="0" normalizeH="0" baseline="0" noProof="0" dirty="0">
                <a:ln>
                  <a:noFill/>
                </a:ln>
                <a:solidFill>
                  <a:srgbClr val="FFFFFF"/>
                </a:solidFill>
                <a:effectLst/>
                <a:uLnTx/>
                <a:uFillTx/>
                <a:latin typeface="Arial"/>
                <a:ea typeface="+mn-ea"/>
                <a:cs typeface="+mn-cs"/>
              </a:rPr>
              <a:t>, without a consistent upward trend.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pic>
        <p:nvPicPr>
          <p:cNvPr id="13" name="Picture 12">
            <a:extLst>
              <a:ext uri="{FF2B5EF4-FFF2-40B4-BE49-F238E27FC236}">
                <a16:creationId xmlns:a16="http://schemas.microsoft.com/office/drawing/2014/main" id="{4D8BDFD0-4EEB-F5B2-4F26-70BBED65D8EF}"/>
              </a:ext>
            </a:extLst>
          </p:cNvPr>
          <p:cNvPicPr>
            <a:picLocks noChangeAspect="1"/>
          </p:cNvPicPr>
          <p:nvPr/>
        </p:nvPicPr>
        <p:blipFill>
          <a:blip r:embed="rId2"/>
          <a:stretch>
            <a:fillRect/>
          </a:stretch>
        </p:blipFill>
        <p:spPr>
          <a:xfrm>
            <a:off x="2871013" y="1454391"/>
            <a:ext cx="5825117" cy="3136602"/>
          </a:xfrm>
          <a:prstGeom prst="roundRect">
            <a:avLst>
              <a:gd name="adj" fmla="val 5917"/>
            </a:avLst>
          </a:prstGeom>
          <a:solidFill>
            <a:srgbClr val="FFFFFF">
              <a:shade val="85000"/>
            </a:srgbClr>
          </a:solidFill>
          <a:ln>
            <a:solidFill>
              <a:schemeClr val="bg1"/>
            </a:solidFill>
          </a:ln>
          <a:effectLst>
            <a:reflection blurRad="12700" stA="38000" endPos="28000" dist="5000" dir="5400000" sy="-100000" algn="bl" rotWithShape="0"/>
          </a:effectLst>
        </p:spPr>
      </p:pic>
    </p:spTree>
    <p:extLst>
      <p:ext uri="{BB962C8B-B14F-4D97-AF65-F5344CB8AC3E}">
        <p14:creationId xmlns:p14="http://schemas.microsoft.com/office/powerpoint/2010/main" val="2660486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6E97C-0E51-E332-1C19-BEA6AF291D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C790387-B6BC-9C37-8193-EC00D3BAD4EB}"/>
              </a:ext>
            </a:extLst>
          </p:cNvPr>
          <p:cNvSpPr>
            <a:spLocks noGrp="1"/>
          </p:cNvSpPr>
          <p:nvPr>
            <p:ph type="title"/>
          </p:nvPr>
        </p:nvSpPr>
        <p:spPr>
          <a:xfrm>
            <a:off x="274165" y="485770"/>
            <a:ext cx="6983886" cy="895630"/>
          </a:xfrm>
        </p:spPr>
        <p:txBody>
          <a:bodyPr/>
          <a:lstStyle/>
          <a:p>
            <a:r>
              <a:rPr lang="en-US" sz="2900" dirty="0"/>
              <a:t>Metric 5: “AVERAGE WAIT TIME BY PRODUCT CATEGORY”</a:t>
            </a:r>
          </a:p>
        </p:txBody>
      </p:sp>
      <p:pic>
        <p:nvPicPr>
          <p:cNvPr id="7" name="Picture 6">
            <a:extLst>
              <a:ext uri="{FF2B5EF4-FFF2-40B4-BE49-F238E27FC236}">
                <a16:creationId xmlns:a16="http://schemas.microsoft.com/office/drawing/2014/main" id="{6EC96AA2-CC6F-FF0B-AA34-8109ED2438EF}"/>
              </a:ext>
            </a:extLst>
          </p:cNvPr>
          <p:cNvPicPr>
            <a:picLocks noChangeAspect="1"/>
          </p:cNvPicPr>
          <p:nvPr/>
        </p:nvPicPr>
        <p:blipFill>
          <a:blip r:embed="rId2"/>
          <a:stretch>
            <a:fillRect/>
          </a:stretch>
        </p:blipFill>
        <p:spPr>
          <a:xfrm>
            <a:off x="2753407" y="1644296"/>
            <a:ext cx="6685185" cy="2489164"/>
          </a:xfrm>
          <a:prstGeom prst="roundRect">
            <a:avLst>
              <a:gd name="adj" fmla="val 5011"/>
            </a:avLst>
          </a:prstGeom>
          <a:solidFill>
            <a:srgbClr val="FFFFFF">
              <a:shade val="85000"/>
            </a:srgbClr>
          </a:solidFill>
          <a:ln>
            <a:noFill/>
          </a:ln>
          <a:effectLst>
            <a:reflection blurRad="12700" stA="38000" endPos="28000" dist="5000" dir="5400000" sy="-100000" algn="bl" rotWithShape="0"/>
          </a:effectLst>
        </p:spPr>
      </p:pic>
      <p:sp>
        <p:nvSpPr>
          <p:cNvPr id="9" name="TextBox 8">
            <a:extLst>
              <a:ext uri="{FF2B5EF4-FFF2-40B4-BE49-F238E27FC236}">
                <a16:creationId xmlns:a16="http://schemas.microsoft.com/office/drawing/2014/main" id="{41B46B1C-7C85-D34B-D8C9-63ED65893ABC}"/>
              </a:ext>
            </a:extLst>
          </p:cNvPr>
          <p:cNvSpPr txBox="1"/>
          <p:nvPr/>
        </p:nvSpPr>
        <p:spPr>
          <a:xfrm>
            <a:off x="982824" y="4451660"/>
            <a:ext cx="10226351" cy="1822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0000"/>
                </a:solidFill>
                <a:effectLst/>
                <a:uLnTx/>
                <a:uFillTx/>
                <a:latin typeface="Arial"/>
                <a:ea typeface="+mn-ea"/>
                <a:cs typeface="+mn-cs"/>
              </a:rPr>
              <a:t>INSIGHTS: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a:t>
            </a:r>
            <a:r>
              <a:rPr kumimoji="0" lang="en-US" sz="1800" b="1" i="0" u="none" strike="noStrike" kern="1200" cap="none" spc="0" normalizeH="0" baseline="0" noProof="0" dirty="0">
                <a:ln>
                  <a:noFill/>
                </a:ln>
                <a:solidFill>
                  <a:srgbClr val="FFFFFF"/>
                </a:solidFill>
                <a:effectLst/>
                <a:uLnTx/>
                <a:uFillTx/>
                <a:latin typeface="Arial"/>
                <a:ea typeface="+mn-ea"/>
                <a:cs typeface="+mn-cs"/>
              </a:rPr>
              <a:t>Electronics</a:t>
            </a:r>
            <a:r>
              <a:rPr kumimoji="0" lang="en-US" sz="1800" b="0" i="0" u="none" strike="noStrike" kern="1200" cap="none" spc="0" normalizeH="0" baseline="0" noProof="0" dirty="0">
                <a:ln>
                  <a:noFill/>
                </a:ln>
                <a:solidFill>
                  <a:srgbClr val="FFFFFF"/>
                </a:solidFill>
                <a:effectLst/>
                <a:uLnTx/>
                <a:uFillTx/>
                <a:latin typeface="Arial"/>
                <a:ea typeface="+mn-ea"/>
                <a:cs typeface="+mn-cs"/>
              </a:rPr>
              <a:t> has the </a:t>
            </a:r>
            <a:r>
              <a:rPr kumimoji="0" lang="en-US" sz="1800" b="1" i="0" u="none" strike="noStrike" kern="1200" cap="none" spc="0" normalizeH="0" baseline="0" noProof="0" dirty="0">
                <a:ln>
                  <a:noFill/>
                </a:ln>
                <a:solidFill>
                  <a:srgbClr val="FFFFFF"/>
                </a:solidFill>
                <a:effectLst/>
                <a:uLnTx/>
                <a:uFillTx/>
                <a:latin typeface="Arial"/>
                <a:ea typeface="+mn-ea"/>
                <a:cs typeface="+mn-cs"/>
              </a:rPr>
              <a:t>highest average waiting time</a:t>
            </a:r>
            <a:r>
              <a:rPr kumimoji="0" lang="en-US" sz="1800" b="0" i="0" u="none" strike="noStrike" kern="1200" cap="none" spc="0" normalizeH="0" baseline="0" noProof="0" dirty="0">
                <a:ln>
                  <a:noFill/>
                </a:ln>
                <a:solidFill>
                  <a:srgbClr val="FFFFFF"/>
                </a:solidFill>
                <a:effectLst/>
                <a:uLnTx/>
                <a:uFillTx/>
                <a:latin typeface="Arial"/>
                <a:ea typeface="+mn-ea"/>
                <a:cs typeface="+mn-cs"/>
              </a:rPr>
              <a:t> (9.55 days).</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All categories have an average waiting time </a:t>
            </a:r>
            <a:r>
              <a:rPr kumimoji="0" lang="en-US" sz="1800" b="1" i="0" u="none" strike="noStrike" kern="1200" cap="none" spc="0" normalizeH="0" baseline="0" noProof="0" dirty="0">
                <a:ln>
                  <a:noFill/>
                </a:ln>
                <a:solidFill>
                  <a:srgbClr val="FFFFFF"/>
                </a:solidFill>
                <a:effectLst/>
                <a:uLnTx/>
                <a:uFillTx/>
                <a:latin typeface="Arial"/>
                <a:ea typeface="+mn-ea"/>
                <a:cs typeface="+mn-cs"/>
              </a:rPr>
              <a:t>close to 9.5 days</a:t>
            </a:r>
            <a:r>
              <a:rPr kumimoji="0" lang="en-US" sz="1800" b="0" i="0" u="none" strike="noStrike" kern="1200" cap="none" spc="0" normalizeH="0" baseline="0" noProof="0" dirty="0">
                <a:ln>
                  <a:noFill/>
                </a:ln>
                <a:solidFill>
                  <a:srgbClr val="FFFFFF"/>
                </a:solidFill>
                <a:effectLst/>
                <a:uLnTx/>
                <a:uFillTx/>
                <a:latin typeface="Arial"/>
                <a:ea typeface="+mn-ea"/>
                <a:cs typeface="+mn-cs"/>
              </a:rPr>
              <a:t>, showing minimal variation.</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a:t>
            </a:r>
            <a:r>
              <a:rPr kumimoji="0" lang="en-US" sz="1800" b="1" i="0" u="none" strike="noStrike" kern="1200" cap="none" spc="0" normalizeH="0" baseline="0" noProof="0" dirty="0">
                <a:ln>
                  <a:noFill/>
                </a:ln>
                <a:solidFill>
                  <a:srgbClr val="FFFFFF"/>
                </a:solidFill>
                <a:effectLst/>
                <a:uLnTx/>
                <a:uFillTx/>
                <a:latin typeface="Arial"/>
                <a:ea typeface="+mn-ea"/>
                <a:cs typeface="+mn-cs"/>
              </a:rPr>
              <a:t>Fashion</a:t>
            </a:r>
            <a:r>
              <a:rPr kumimoji="0" lang="en-US" sz="1800" b="0" i="0" u="none" strike="noStrike" kern="1200" cap="none" spc="0" normalizeH="0" baseline="0" noProof="0" dirty="0">
                <a:ln>
                  <a:noFill/>
                </a:ln>
                <a:solidFill>
                  <a:srgbClr val="FFFFFF"/>
                </a:solidFill>
                <a:effectLst/>
                <a:uLnTx/>
                <a:uFillTx/>
                <a:latin typeface="Arial"/>
                <a:ea typeface="+mn-ea"/>
                <a:cs typeface="+mn-cs"/>
              </a:rPr>
              <a:t> has the </a:t>
            </a:r>
            <a:r>
              <a:rPr kumimoji="0" lang="en-US" sz="1800" b="1" i="0" u="none" strike="noStrike" kern="1200" cap="none" spc="0" normalizeH="0" baseline="0" noProof="0" dirty="0">
                <a:ln>
                  <a:noFill/>
                </a:ln>
                <a:solidFill>
                  <a:srgbClr val="FFFFFF"/>
                </a:solidFill>
                <a:effectLst/>
                <a:uLnTx/>
                <a:uFillTx/>
                <a:latin typeface="Arial"/>
                <a:ea typeface="+mn-ea"/>
                <a:cs typeface="+mn-cs"/>
              </a:rPr>
              <a:t>lowest waiting time</a:t>
            </a:r>
            <a:r>
              <a:rPr kumimoji="0" lang="en-US" sz="1800" b="0" i="0" u="none" strike="noStrike" kern="1200" cap="none" spc="0" normalizeH="0" baseline="0" noProof="0" dirty="0">
                <a:ln>
                  <a:noFill/>
                </a:ln>
                <a:solidFill>
                  <a:srgbClr val="FFFFFF"/>
                </a:solidFill>
                <a:effectLst/>
                <a:uLnTx/>
                <a:uFillTx/>
                <a:latin typeface="Arial"/>
                <a:ea typeface="+mn-ea"/>
                <a:cs typeface="+mn-cs"/>
              </a:rPr>
              <a:t> (9.50 days), but only slightly better than others.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20111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EB8D0-E124-9961-7FCB-6A20EA63D5B0}"/>
            </a:ext>
          </a:extLst>
        </p:cNvPr>
        <p:cNvGrpSpPr/>
        <p:nvPr/>
      </p:nvGrpSpPr>
      <p:grpSpPr>
        <a:xfrm>
          <a:off x="0" y="0"/>
          <a:ext cx="0" cy="0"/>
          <a:chOff x="0" y="0"/>
          <a:chExt cx="0" cy="0"/>
        </a:xfrm>
      </p:grpSpPr>
      <p:sp>
        <p:nvSpPr>
          <p:cNvPr id="3" name="Title 3">
            <a:extLst>
              <a:ext uri="{FF2B5EF4-FFF2-40B4-BE49-F238E27FC236}">
                <a16:creationId xmlns:a16="http://schemas.microsoft.com/office/drawing/2014/main" id="{0F91E8F7-3EB2-D9EC-4B85-4E71BBAA316D}"/>
              </a:ext>
            </a:extLst>
          </p:cNvPr>
          <p:cNvSpPr txBox="1">
            <a:spLocks/>
          </p:cNvSpPr>
          <p:nvPr/>
        </p:nvSpPr>
        <p:spPr>
          <a:xfrm>
            <a:off x="462425" y="444307"/>
            <a:ext cx="6547976" cy="923330"/>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000" b="1" i="0" u="none" strike="noStrike" kern="1200" cap="none" spc="-70" normalizeH="0" baseline="0" noProof="0" dirty="0">
                <a:ln>
                  <a:noFill/>
                </a:ln>
                <a:solidFill>
                  <a:srgbClr val="FFFFFF"/>
                </a:solidFill>
                <a:effectLst/>
                <a:uLnTx/>
                <a:uFillTx/>
                <a:latin typeface="Trebuchet MS"/>
                <a:ea typeface="+mj-ea"/>
                <a:cs typeface="+mj-cs"/>
              </a:rPr>
              <a:t>Metric 6: “AVERAGE WAITING TIME BY DELIVERY TYPE”</a:t>
            </a:r>
          </a:p>
        </p:txBody>
      </p:sp>
      <p:sp>
        <p:nvSpPr>
          <p:cNvPr id="11" name="TextBox 10">
            <a:extLst>
              <a:ext uri="{FF2B5EF4-FFF2-40B4-BE49-F238E27FC236}">
                <a16:creationId xmlns:a16="http://schemas.microsoft.com/office/drawing/2014/main" id="{48C50E67-8D57-F496-D6A2-E8941C027DD7}"/>
              </a:ext>
            </a:extLst>
          </p:cNvPr>
          <p:cNvSpPr txBox="1"/>
          <p:nvPr/>
        </p:nvSpPr>
        <p:spPr>
          <a:xfrm>
            <a:off x="2246959" y="4662483"/>
            <a:ext cx="7698081" cy="153888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0000"/>
                </a:solidFill>
                <a:effectLst/>
                <a:uLnTx/>
                <a:uFillTx/>
                <a:latin typeface="Arial"/>
                <a:ea typeface="+mn-ea"/>
                <a:cs typeface="+mn-cs"/>
              </a:rPr>
              <a:t>INSIGHTS: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sng" strike="noStrike" kern="1200" cap="none" spc="0" normalizeH="0" baseline="0" noProof="0" dirty="0">
              <a:ln>
                <a:noFill/>
              </a:ln>
              <a:solidFill>
                <a:srgbClr val="FFFFFF"/>
              </a:solidFill>
              <a:effectLst/>
              <a:uLnTx/>
              <a:uFillTx/>
              <a:latin typeface="Arial"/>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a:t>
            </a:r>
            <a:r>
              <a:rPr kumimoji="0" lang="en-US" sz="1800" b="1" i="0" u="none" strike="noStrike" kern="1200" cap="none" spc="0" normalizeH="0" baseline="0" noProof="0" dirty="0">
                <a:ln>
                  <a:noFill/>
                </a:ln>
                <a:solidFill>
                  <a:srgbClr val="FFFFFF"/>
                </a:solidFill>
                <a:effectLst/>
                <a:uLnTx/>
                <a:uFillTx/>
                <a:latin typeface="Arial"/>
                <a:ea typeface="+mn-ea"/>
                <a:cs typeface="+mn-cs"/>
              </a:rPr>
              <a:t>Shipped from Abroad</a:t>
            </a:r>
            <a:r>
              <a:rPr kumimoji="0" lang="en-US" sz="1800" b="0" i="0" u="none" strike="noStrike" kern="1200" cap="none" spc="0" normalizeH="0" baseline="0" noProof="0" dirty="0">
                <a:ln>
                  <a:noFill/>
                </a:ln>
                <a:solidFill>
                  <a:srgbClr val="FFFFFF"/>
                </a:solidFill>
                <a:effectLst/>
                <a:uLnTx/>
                <a:uFillTx/>
                <a:latin typeface="Arial"/>
                <a:ea typeface="+mn-ea"/>
                <a:cs typeface="+mn-cs"/>
              </a:rPr>
              <a:t> has the </a:t>
            </a:r>
            <a:r>
              <a:rPr kumimoji="0" lang="en-US" sz="1800" b="1" i="0" u="none" strike="noStrike" kern="1200" cap="none" spc="0" normalizeH="0" baseline="0" noProof="0" dirty="0">
                <a:ln>
                  <a:noFill/>
                </a:ln>
                <a:solidFill>
                  <a:srgbClr val="FFFFFF"/>
                </a:solidFill>
                <a:effectLst/>
                <a:uLnTx/>
                <a:uFillTx/>
                <a:latin typeface="Arial"/>
                <a:ea typeface="+mn-ea"/>
                <a:cs typeface="+mn-cs"/>
              </a:rPr>
              <a:t>longest waiting time</a:t>
            </a:r>
            <a:r>
              <a:rPr kumimoji="0" lang="en-US" sz="1800" b="0" i="0" u="none" strike="noStrike" kern="1200" cap="none" spc="0" normalizeH="0" baseline="0" noProof="0" dirty="0">
                <a:ln>
                  <a:noFill/>
                </a:ln>
                <a:solidFill>
                  <a:srgbClr val="FFFFFF"/>
                </a:solidFill>
                <a:effectLst/>
                <a:uLnTx/>
                <a:uFillTx/>
                <a:latin typeface="Arial"/>
                <a:ea typeface="+mn-ea"/>
                <a:cs typeface="+mn-cs"/>
              </a:rPr>
              <a:t> at </a:t>
            </a:r>
            <a:r>
              <a:rPr kumimoji="0" lang="en-US" sz="1800" b="1" i="0" u="none" strike="noStrike" kern="1200" cap="none" spc="0" normalizeH="0" baseline="0" noProof="0" dirty="0">
                <a:ln>
                  <a:noFill/>
                </a:ln>
                <a:solidFill>
                  <a:srgbClr val="FFFFFF"/>
                </a:solidFill>
                <a:effectLst/>
                <a:uLnTx/>
                <a:uFillTx/>
                <a:latin typeface="Arial"/>
                <a:ea typeface="+mn-ea"/>
                <a:cs typeface="+mn-cs"/>
              </a:rPr>
              <a:t>15 days</a:t>
            </a:r>
            <a:r>
              <a:rPr kumimoji="0" lang="en-US" sz="1800" b="0" i="0" u="none" strike="noStrike" kern="1200" cap="none" spc="0" normalizeH="0" baseline="0" noProof="0" dirty="0">
                <a:ln>
                  <a:noFill/>
                </a:ln>
                <a:solidFill>
                  <a:srgbClr val="FFFFFF"/>
                </a:solidFill>
                <a:effectLst/>
                <a:uLnTx/>
                <a:uFillTx/>
                <a:latin typeface="Arial"/>
                <a:ea typeface="+mn-ea"/>
                <a:cs typeface="+mn-cs"/>
              </a:rPr>
              <a:t>.</a:t>
            </a:r>
            <a:endParaRPr kumimoji="0" lang="en-US" sz="1800" b="1" i="0" u="sng" strike="noStrike" kern="1200" cap="none" spc="0" normalizeH="0" baseline="0" noProof="0" dirty="0">
              <a:ln>
                <a:noFill/>
              </a:ln>
              <a:solidFill>
                <a:srgbClr val="FFFFFF"/>
              </a:solidFill>
              <a:effectLst/>
              <a:uLnTx/>
              <a:uFillTx/>
              <a:latin typeface="Arial"/>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a:t>
            </a:r>
            <a:r>
              <a:rPr kumimoji="0" lang="en-US" sz="1800" b="1" i="0" u="none" strike="noStrike" kern="1200" cap="none" spc="0" normalizeH="0" baseline="0" noProof="0" dirty="0">
                <a:ln>
                  <a:noFill/>
                </a:ln>
                <a:solidFill>
                  <a:srgbClr val="FFFFFF"/>
                </a:solidFill>
                <a:effectLst/>
                <a:uLnTx/>
                <a:uFillTx/>
                <a:latin typeface="Arial"/>
                <a:ea typeface="+mn-ea"/>
                <a:cs typeface="+mn-cs"/>
              </a:rPr>
              <a:t>Standard Delivery</a:t>
            </a:r>
            <a:r>
              <a:rPr kumimoji="0" lang="en-US" sz="1800" b="0" i="0" u="none" strike="noStrike" kern="1200" cap="none" spc="0" normalizeH="0" baseline="0" noProof="0" dirty="0">
                <a:ln>
                  <a:noFill/>
                </a:ln>
                <a:solidFill>
                  <a:srgbClr val="FFFFFF"/>
                </a:solidFill>
                <a:effectLst/>
                <a:uLnTx/>
                <a:uFillTx/>
                <a:latin typeface="Arial"/>
                <a:ea typeface="+mn-ea"/>
                <a:cs typeface="+mn-cs"/>
              </a:rPr>
              <a:t> takes </a:t>
            </a:r>
            <a:r>
              <a:rPr kumimoji="0" lang="en-US" sz="1800" b="1" i="0" u="none" strike="noStrike" kern="1200" cap="none" spc="0" normalizeH="0" baseline="0" noProof="0" dirty="0">
                <a:ln>
                  <a:noFill/>
                </a:ln>
                <a:solidFill>
                  <a:srgbClr val="FFFFFF"/>
                </a:solidFill>
                <a:effectLst/>
                <a:uLnTx/>
                <a:uFillTx/>
                <a:latin typeface="Arial"/>
                <a:ea typeface="+mn-ea"/>
                <a:cs typeface="+mn-cs"/>
              </a:rPr>
              <a:t>10 days</a:t>
            </a:r>
            <a:r>
              <a:rPr kumimoji="0" lang="en-US" sz="1800" b="0" i="0" u="none" strike="noStrike" kern="1200" cap="none" spc="0" normalizeH="0" baseline="0" noProof="0" dirty="0">
                <a:ln>
                  <a:noFill/>
                </a:ln>
                <a:solidFill>
                  <a:srgbClr val="FFFFFF"/>
                </a:solidFill>
                <a:effectLst/>
                <a:uLnTx/>
                <a:uFillTx/>
                <a:latin typeface="Arial"/>
                <a:ea typeface="+mn-ea"/>
                <a:cs typeface="+mn-cs"/>
              </a:rPr>
              <a:t>, which is moderate.</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a:t>
            </a:r>
            <a:r>
              <a:rPr kumimoji="0" lang="en-US" sz="1800" b="1" i="0" u="none" strike="noStrike" kern="1200" cap="none" spc="0" normalizeH="0" baseline="0" noProof="0" dirty="0">
                <a:ln>
                  <a:noFill/>
                </a:ln>
                <a:solidFill>
                  <a:srgbClr val="FFFFFF"/>
                </a:solidFill>
                <a:effectLst/>
                <a:uLnTx/>
                <a:uFillTx/>
                <a:latin typeface="Arial"/>
                <a:ea typeface="+mn-ea"/>
                <a:cs typeface="+mn-cs"/>
              </a:rPr>
              <a:t>Express Delivery </a:t>
            </a:r>
            <a:r>
              <a:rPr kumimoji="0" lang="en-US" sz="1800" b="0" i="0" u="none" strike="noStrike" kern="1200" cap="none" spc="0" normalizeH="0" baseline="0" noProof="0" dirty="0">
                <a:ln>
                  <a:noFill/>
                </a:ln>
                <a:solidFill>
                  <a:srgbClr val="FFFFFF"/>
                </a:solidFill>
                <a:effectLst/>
                <a:uLnTx/>
                <a:uFillTx/>
                <a:latin typeface="Arial"/>
                <a:ea typeface="+mn-ea"/>
                <a:cs typeface="+mn-cs"/>
              </a:rPr>
              <a:t>is the </a:t>
            </a:r>
            <a:r>
              <a:rPr kumimoji="0" lang="en-US" sz="1800" b="1" i="0" u="none" strike="noStrike" kern="1200" cap="none" spc="0" normalizeH="0" baseline="0" noProof="0" dirty="0">
                <a:ln>
                  <a:noFill/>
                </a:ln>
                <a:solidFill>
                  <a:srgbClr val="FFFFFF"/>
                </a:solidFill>
                <a:effectLst/>
                <a:uLnTx/>
                <a:uFillTx/>
                <a:latin typeface="Arial"/>
                <a:ea typeface="+mn-ea"/>
                <a:cs typeface="+mn-cs"/>
              </a:rPr>
              <a:t>fastest</a:t>
            </a:r>
            <a:r>
              <a:rPr kumimoji="0" lang="en-US" sz="1800" b="0" i="0" u="none" strike="noStrike" kern="1200" cap="none" spc="0" normalizeH="0" baseline="0" noProof="0" dirty="0">
                <a:ln>
                  <a:noFill/>
                </a:ln>
                <a:solidFill>
                  <a:srgbClr val="FFFFFF"/>
                </a:solidFill>
                <a:effectLst/>
                <a:uLnTx/>
                <a:uFillTx/>
                <a:latin typeface="Arial"/>
                <a:ea typeface="+mn-ea"/>
                <a:cs typeface="+mn-cs"/>
              </a:rPr>
              <a:t>, with an average of only </a:t>
            </a:r>
            <a:r>
              <a:rPr kumimoji="0" lang="en-US" sz="1800" b="1" i="0" u="none" strike="noStrike" kern="1200" cap="none" spc="0" normalizeH="0" baseline="0" noProof="0" dirty="0">
                <a:ln>
                  <a:noFill/>
                </a:ln>
                <a:solidFill>
                  <a:srgbClr val="FFFFFF"/>
                </a:solidFill>
                <a:effectLst/>
                <a:uLnTx/>
                <a:uFillTx/>
                <a:latin typeface="Arial"/>
                <a:ea typeface="+mn-ea"/>
                <a:cs typeface="+mn-cs"/>
              </a:rPr>
              <a:t>3 days</a:t>
            </a:r>
            <a:r>
              <a:rPr kumimoji="0" lang="en-US" sz="1800" b="0" i="0" u="none" strike="noStrike" kern="1200" cap="none" spc="0" normalizeH="0" baseline="0" noProof="0" dirty="0">
                <a:ln>
                  <a:noFill/>
                </a:ln>
                <a:solidFill>
                  <a:srgbClr val="FFFFFF"/>
                </a:solidFill>
                <a:effectLst/>
                <a:uLnTx/>
                <a:uFillTx/>
                <a:latin typeface="Arial"/>
                <a:ea typeface="+mn-ea"/>
                <a:cs typeface="+mn-cs"/>
              </a:rPr>
              <a:t>.</a:t>
            </a:r>
          </a:p>
        </p:txBody>
      </p:sp>
      <p:pic>
        <p:nvPicPr>
          <p:cNvPr id="13" name="Picture 12">
            <a:extLst>
              <a:ext uri="{FF2B5EF4-FFF2-40B4-BE49-F238E27FC236}">
                <a16:creationId xmlns:a16="http://schemas.microsoft.com/office/drawing/2014/main" id="{CB15A39F-68B5-881C-5E96-737E1AADB6A5}"/>
              </a:ext>
            </a:extLst>
          </p:cNvPr>
          <p:cNvPicPr>
            <a:picLocks noChangeAspect="1"/>
          </p:cNvPicPr>
          <p:nvPr/>
        </p:nvPicPr>
        <p:blipFill>
          <a:blip r:embed="rId2"/>
          <a:stretch>
            <a:fillRect/>
          </a:stretch>
        </p:blipFill>
        <p:spPr>
          <a:xfrm>
            <a:off x="3642206" y="1591397"/>
            <a:ext cx="4907587" cy="2651225"/>
          </a:xfrm>
          <a:prstGeom prst="roundRect">
            <a:avLst>
              <a:gd name="adj" fmla="val 5917"/>
            </a:avLst>
          </a:prstGeom>
          <a:solidFill>
            <a:srgbClr val="FFFFFF">
              <a:shade val="85000"/>
            </a:srgbClr>
          </a:solidFill>
          <a:ln>
            <a:solidFill>
              <a:schemeClr val="bg1"/>
            </a:solidFill>
          </a:ln>
          <a:effectLst>
            <a:reflection blurRad="12700" stA="38000" endPos="28000" dist="5000" dir="5400000" sy="-100000" algn="bl" rotWithShape="0"/>
          </a:effectLst>
        </p:spPr>
      </p:pic>
    </p:spTree>
    <p:extLst>
      <p:ext uri="{BB962C8B-B14F-4D97-AF65-F5344CB8AC3E}">
        <p14:creationId xmlns:p14="http://schemas.microsoft.com/office/powerpoint/2010/main" val="262932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5E719-0C09-6E68-9F04-C78C45338C4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F62D63-BFA8-EC60-170A-47B5A3F25315}"/>
              </a:ext>
            </a:extLst>
          </p:cNvPr>
          <p:cNvSpPr>
            <a:spLocks noGrp="1"/>
          </p:cNvSpPr>
          <p:nvPr>
            <p:ph type="title"/>
          </p:nvPr>
        </p:nvSpPr>
        <p:spPr>
          <a:xfrm>
            <a:off x="274165" y="485770"/>
            <a:ext cx="6983886" cy="895630"/>
          </a:xfrm>
        </p:spPr>
        <p:txBody>
          <a:bodyPr/>
          <a:lstStyle/>
          <a:p>
            <a:r>
              <a:rPr lang="en-US" sz="2900" dirty="0"/>
              <a:t>Metric 7: “AVERAGE SHIPPING COST BY PRODUCT CATEGORY”</a:t>
            </a:r>
          </a:p>
        </p:txBody>
      </p:sp>
      <p:pic>
        <p:nvPicPr>
          <p:cNvPr id="10" name="Picture 9">
            <a:extLst>
              <a:ext uri="{FF2B5EF4-FFF2-40B4-BE49-F238E27FC236}">
                <a16:creationId xmlns:a16="http://schemas.microsoft.com/office/drawing/2014/main" id="{A7204773-B4CD-D13E-B9DE-559B3D4AE0B3}"/>
              </a:ext>
            </a:extLst>
          </p:cNvPr>
          <p:cNvPicPr>
            <a:picLocks noChangeAspect="1"/>
          </p:cNvPicPr>
          <p:nvPr/>
        </p:nvPicPr>
        <p:blipFill>
          <a:blip r:embed="rId2"/>
          <a:stretch>
            <a:fillRect/>
          </a:stretch>
        </p:blipFill>
        <p:spPr>
          <a:xfrm>
            <a:off x="3499863" y="1575862"/>
            <a:ext cx="4927843" cy="2752061"/>
          </a:xfrm>
          <a:prstGeom prst="roundRect">
            <a:avLst>
              <a:gd name="adj" fmla="val 4161"/>
            </a:avLst>
          </a:prstGeom>
          <a:solidFill>
            <a:srgbClr val="FFFFFF">
              <a:shade val="85000"/>
            </a:srgbClr>
          </a:solidFill>
          <a:ln>
            <a:noFill/>
          </a:ln>
          <a:effectLst>
            <a:reflection blurRad="12700" stA="38000" endPos="28000" dist="5000" dir="5400000" sy="-100000" algn="bl" rotWithShape="0"/>
          </a:effectLst>
        </p:spPr>
      </p:pic>
      <p:sp>
        <p:nvSpPr>
          <p:cNvPr id="11" name="TextBox 10">
            <a:extLst>
              <a:ext uri="{FF2B5EF4-FFF2-40B4-BE49-F238E27FC236}">
                <a16:creationId xmlns:a16="http://schemas.microsoft.com/office/drawing/2014/main" id="{CC268B89-C99C-16F2-08BD-2E2B14C3D950}"/>
              </a:ext>
            </a:extLst>
          </p:cNvPr>
          <p:cNvSpPr txBox="1"/>
          <p:nvPr/>
        </p:nvSpPr>
        <p:spPr>
          <a:xfrm>
            <a:off x="691237" y="4327923"/>
            <a:ext cx="10545096" cy="206210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0000"/>
                </a:solidFill>
                <a:effectLst/>
                <a:uLnTx/>
                <a:uFillTx/>
                <a:latin typeface="Arial"/>
                <a:ea typeface="+mn-ea"/>
                <a:cs typeface="+mn-cs"/>
              </a:rPr>
              <a:t>INSIGHTS: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a:t>
            </a:r>
            <a:r>
              <a:rPr kumimoji="0" lang="en-US" sz="1800" b="1" i="0" u="none" strike="noStrike" kern="1200" cap="none" spc="0" normalizeH="0" baseline="0" noProof="0" dirty="0">
                <a:ln>
                  <a:noFill/>
                </a:ln>
                <a:solidFill>
                  <a:srgbClr val="FFFFFF"/>
                </a:solidFill>
                <a:effectLst/>
                <a:uLnTx/>
                <a:uFillTx/>
                <a:latin typeface="Arial"/>
                <a:ea typeface="+mn-ea"/>
                <a:cs typeface="+mn-cs"/>
              </a:rPr>
              <a:t>Health and Beauty</a:t>
            </a:r>
            <a:r>
              <a:rPr kumimoji="0" lang="en-US" sz="1800" b="0" i="0" u="none" strike="noStrike" kern="1200" cap="none" spc="0" normalizeH="0" baseline="0" noProof="0" dirty="0">
                <a:ln>
                  <a:noFill/>
                </a:ln>
                <a:solidFill>
                  <a:srgbClr val="FFFFFF"/>
                </a:solidFill>
                <a:effectLst/>
                <a:uLnTx/>
                <a:uFillTx/>
                <a:latin typeface="Arial"/>
                <a:ea typeface="+mn-ea"/>
                <a:cs typeface="+mn-cs"/>
              </a:rPr>
              <a:t> products have the </a:t>
            </a:r>
            <a:r>
              <a:rPr kumimoji="0" lang="en-US" sz="1800" b="1" i="0" u="none" strike="noStrike" kern="1200" cap="none" spc="0" normalizeH="0" baseline="0" noProof="0" dirty="0">
                <a:ln>
                  <a:noFill/>
                </a:ln>
                <a:solidFill>
                  <a:srgbClr val="FFFFFF"/>
                </a:solidFill>
                <a:effectLst/>
                <a:uLnTx/>
                <a:uFillTx/>
                <a:latin typeface="Arial"/>
                <a:ea typeface="+mn-ea"/>
                <a:cs typeface="+mn-cs"/>
              </a:rPr>
              <a:t>highest average shipping fee</a:t>
            </a:r>
            <a:r>
              <a:rPr kumimoji="0" lang="en-US" sz="1800" b="0" i="0" u="none" strike="noStrike" kern="1200" cap="none" spc="0" normalizeH="0" baseline="0" noProof="0" dirty="0">
                <a:ln>
                  <a:noFill/>
                </a:ln>
                <a:solidFill>
                  <a:srgbClr val="FFFFFF"/>
                </a:solidFill>
                <a:effectLst/>
                <a:uLnTx/>
                <a:uFillTx/>
                <a:latin typeface="Arial"/>
                <a:ea typeface="+mn-ea"/>
                <a:cs typeface="+mn-cs"/>
              </a:rPr>
              <a:t> at </a:t>
            </a:r>
            <a:r>
              <a:rPr kumimoji="0" lang="en-US" sz="1800" b="1" i="0" u="none" strike="noStrike" kern="1200" cap="none" spc="0" normalizeH="0" baseline="0" noProof="0" dirty="0">
                <a:ln>
                  <a:noFill/>
                </a:ln>
                <a:solidFill>
                  <a:srgbClr val="FFFFFF"/>
                </a:solidFill>
                <a:effectLst/>
                <a:uLnTx/>
                <a:uFillTx/>
                <a:latin typeface="Arial"/>
                <a:ea typeface="+mn-ea"/>
                <a:cs typeface="+mn-cs"/>
              </a:rPr>
              <a:t>11.55</a:t>
            </a:r>
            <a:r>
              <a:rPr kumimoji="0" lang="en-US" sz="1800" b="0" i="0" u="none" strike="noStrike" kern="1200" cap="none" spc="0" normalizeH="0" baseline="0" noProof="0" dirty="0">
                <a:ln>
                  <a:noFill/>
                </a:ln>
                <a:solidFill>
                  <a:srgbClr val="FFFFFF"/>
                </a:solidFill>
                <a:effectLst/>
                <a:uLnTx/>
                <a:uFillTx/>
                <a:latin typeface="Arial"/>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a:t>
            </a:r>
            <a:r>
              <a:rPr kumimoji="0" lang="en-US" sz="1800" b="1" i="0" u="none" strike="noStrike" kern="1200" cap="none" spc="0" normalizeH="0" baseline="0" noProof="0" dirty="0">
                <a:ln>
                  <a:noFill/>
                </a:ln>
                <a:solidFill>
                  <a:srgbClr val="FFFFFF"/>
                </a:solidFill>
                <a:effectLst/>
                <a:uLnTx/>
                <a:uFillTx/>
                <a:latin typeface="Arial"/>
                <a:ea typeface="+mn-ea"/>
                <a:cs typeface="+mn-cs"/>
              </a:rPr>
              <a:t>Fashion</a:t>
            </a:r>
            <a:r>
              <a:rPr kumimoji="0" lang="en-US" sz="1800" b="0" i="0" u="none" strike="noStrike" kern="1200" cap="none" spc="0" normalizeH="0" baseline="0" noProof="0" dirty="0">
                <a:ln>
                  <a:noFill/>
                </a:ln>
                <a:solidFill>
                  <a:srgbClr val="FFFFFF"/>
                </a:solidFill>
                <a:effectLst/>
                <a:uLnTx/>
                <a:uFillTx/>
                <a:latin typeface="Arial"/>
                <a:ea typeface="+mn-ea"/>
                <a:cs typeface="+mn-cs"/>
              </a:rPr>
              <a:t> and 📱 </a:t>
            </a:r>
            <a:r>
              <a:rPr kumimoji="0" lang="en-US" sz="1800" b="1" i="0" u="none" strike="noStrike" kern="1200" cap="none" spc="0" normalizeH="0" baseline="0" noProof="0" dirty="0">
                <a:ln>
                  <a:noFill/>
                </a:ln>
                <a:solidFill>
                  <a:srgbClr val="FFFFFF"/>
                </a:solidFill>
                <a:effectLst/>
                <a:uLnTx/>
                <a:uFillTx/>
                <a:latin typeface="Arial"/>
                <a:ea typeface="+mn-ea"/>
                <a:cs typeface="+mn-cs"/>
              </a:rPr>
              <a:t>Phones and Tablet</a:t>
            </a:r>
            <a:r>
              <a:rPr kumimoji="0" lang="en-US" sz="1800" b="0" i="0" u="none" strike="noStrike" kern="1200" cap="none" spc="0" normalizeH="0" baseline="0" noProof="0" dirty="0">
                <a:ln>
                  <a:noFill/>
                </a:ln>
                <a:solidFill>
                  <a:srgbClr val="FFFFFF"/>
                </a:solidFill>
                <a:effectLst/>
                <a:uLnTx/>
                <a:uFillTx/>
                <a:latin typeface="Arial"/>
                <a:ea typeface="+mn-ea"/>
                <a:cs typeface="+mn-cs"/>
              </a:rPr>
              <a:t> follow closely with an average fee of </a:t>
            </a:r>
            <a:r>
              <a:rPr kumimoji="0" lang="en-US" sz="1800" b="1" i="0" u="none" strike="noStrike" kern="1200" cap="none" spc="0" normalizeH="0" baseline="0" noProof="0" dirty="0">
                <a:ln>
                  <a:noFill/>
                </a:ln>
                <a:solidFill>
                  <a:srgbClr val="FFFFFF"/>
                </a:solidFill>
                <a:effectLst/>
                <a:uLnTx/>
                <a:uFillTx/>
                <a:latin typeface="Arial"/>
                <a:ea typeface="+mn-ea"/>
                <a:cs typeface="+mn-cs"/>
              </a:rPr>
              <a:t>11.48</a:t>
            </a:r>
            <a:r>
              <a:rPr kumimoji="0" lang="en-US" sz="1800" b="0" i="0" u="none" strike="noStrike" kern="1200" cap="none" spc="0" normalizeH="0" baseline="0" noProof="0" dirty="0">
                <a:ln>
                  <a:noFill/>
                </a:ln>
                <a:solidFill>
                  <a:srgbClr val="FFFFFF"/>
                </a:solidFill>
                <a:effectLst/>
                <a:uLnTx/>
                <a:uFillTx/>
                <a:latin typeface="Arial"/>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a:t>
            </a:r>
            <a:r>
              <a:rPr kumimoji="0" lang="en-US" sz="1800" b="1" i="0" u="none" strike="noStrike" kern="1200" cap="none" spc="0" normalizeH="0" baseline="0" noProof="0" dirty="0">
                <a:ln>
                  <a:noFill/>
                </a:ln>
                <a:solidFill>
                  <a:srgbClr val="FFFFFF"/>
                </a:solidFill>
                <a:effectLst/>
                <a:uLnTx/>
                <a:uFillTx/>
                <a:latin typeface="Arial"/>
                <a:ea typeface="+mn-ea"/>
                <a:cs typeface="+mn-cs"/>
              </a:rPr>
              <a:t>Home and Office</a:t>
            </a:r>
            <a:r>
              <a:rPr kumimoji="0" lang="en-US" sz="1800" b="0" i="0" u="none" strike="noStrike" kern="1200" cap="none" spc="0" normalizeH="0" baseline="0" noProof="0" dirty="0">
                <a:ln>
                  <a:noFill/>
                </a:ln>
                <a:solidFill>
                  <a:srgbClr val="FFFFFF"/>
                </a:solidFill>
                <a:effectLst/>
                <a:uLnTx/>
                <a:uFillTx/>
                <a:latin typeface="Arial"/>
                <a:ea typeface="+mn-ea"/>
                <a:cs typeface="+mn-cs"/>
              </a:rPr>
              <a:t> and 💻 </a:t>
            </a:r>
            <a:r>
              <a:rPr kumimoji="0" lang="en-US" sz="1800" b="1" i="0" u="none" strike="noStrike" kern="1200" cap="none" spc="0" normalizeH="0" baseline="0" noProof="0" dirty="0">
                <a:ln>
                  <a:noFill/>
                </a:ln>
                <a:solidFill>
                  <a:srgbClr val="FFFFFF"/>
                </a:solidFill>
                <a:effectLst/>
                <a:uLnTx/>
                <a:uFillTx/>
                <a:latin typeface="Arial"/>
                <a:ea typeface="+mn-ea"/>
                <a:cs typeface="+mn-cs"/>
              </a:rPr>
              <a:t>Electronics</a:t>
            </a:r>
            <a:r>
              <a:rPr kumimoji="0" lang="en-US" sz="1800" b="0" i="0" u="none" strike="noStrike" kern="1200" cap="none" spc="0" normalizeH="0" baseline="0" noProof="0" dirty="0">
                <a:ln>
                  <a:noFill/>
                </a:ln>
                <a:solidFill>
                  <a:srgbClr val="FFFFFF"/>
                </a:solidFill>
                <a:effectLst/>
                <a:uLnTx/>
                <a:uFillTx/>
                <a:latin typeface="Arial"/>
                <a:ea typeface="+mn-ea"/>
                <a:cs typeface="+mn-cs"/>
              </a:rPr>
              <a:t> have the </a:t>
            </a:r>
            <a:r>
              <a:rPr kumimoji="0" lang="en-US" sz="1800" b="1" i="0" u="none" strike="noStrike" kern="1200" cap="none" spc="0" normalizeH="0" baseline="0" noProof="0" dirty="0">
                <a:ln>
                  <a:noFill/>
                </a:ln>
                <a:solidFill>
                  <a:srgbClr val="FFFFFF"/>
                </a:solidFill>
                <a:effectLst/>
                <a:uLnTx/>
                <a:uFillTx/>
                <a:latin typeface="Arial"/>
                <a:ea typeface="+mn-ea"/>
                <a:cs typeface="+mn-cs"/>
              </a:rPr>
              <a:t>lowest shipping fee</a:t>
            </a:r>
            <a:r>
              <a:rPr kumimoji="0" lang="en-US" sz="1800" b="0" i="0" u="none" strike="noStrike" kern="1200" cap="none" spc="0" normalizeH="0" baseline="0" noProof="0" dirty="0">
                <a:ln>
                  <a:noFill/>
                </a:ln>
                <a:solidFill>
                  <a:srgbClr val="FFFFFF"/>
                </a:solidFill>
                <a:effectLst/>
                <a:uLnTx/>
                <a:uFillTx/>
                <a:latin typeface="Arial"/>
                <a:ea typeface="+mn-ea"/>
                <a:cs typeface="+mn-cs"/>
              </a:rPr>
              <a:t> at </a:t>
            </a:r>
            <a:r>
              <a:rPr kumimoji="0" lang="en-US" sz="1800" b="1" i="0" u="none" strike="noStrike" kern="1200" cap="none" spc="0" normalizeH="0" baseline="0" noProof="0" dirty="0">
                <a:ln>
                  <a:noFill/>
                </a:ln>
                <a:solidFill>
                  <a:srgbClr val="FFFFFF"/>
                </a:solidFill>
                <a:effectLst/>
                <a:uLnTx/>
                <a:uFillTx/>
                <a:latin typeface="Arial"/>
                <a:ea typeface="+mn-ea"/>
                <a:cs typeface="+mn-cs"/>
              </a:rPr>
              <a:t>11.47</a:t>
            </a:r>
            <a:r>
              <a:rPr kumimoji="0" lang="en-US" sz="1800" b="0" i="0" u="none" strike="noStrike" kern="1200" cap="none" spc="0" normalizeH="0" baseline="0" noProof="0" dirty="0">
                <a:ln>
                  <a:noFill/>
                </a:ln>
                <a:solidFill>
                  <a:srgbClr val="FFFFFF"/>
                </a:solidFill>
                <a:effectLst/>
                <a:uLnTx/>
                <a:uFillTx/>
                <a:latin typeface="Arial"/>
                <a:ea typeface="+mn-ea"/>
                <a:cs typeface="+mn-cs"/>
              </a:rPr>
              <a:t>, though the difference is minimal.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246112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2932D-DC09-8418-2421-1996413998A4}"/>
            </a:ext>
          </a:extLst>
        </p:cNvPr>
        <p:cNvGrpSpPr/>
        <p:nvPr/>
      </p:nvGrpSpPr>
      <p:grpSpPr>
        <a:xfrm>
          <a:off x="0" y="0"/>
          <a:ext cx="0" cy="0"/>
          <a:chOff x="0" y="0"/>
          <a:chExt cx="0" cy="0"/>
        </a:xfrm>
      </p:grpSpPr>
      <p:sp>
        <p:nvSpPr>
          <p:cNvPr id="3" name="Title 3">
            <a:extLst>
              <a:ext uri="{FF2B5EF4-FFF2-40B4-BE49-F238E27FC236}">
                <a16:creationId xmlns:a16="http://schemas.microsoft.com/office/drawing/2014/main" id="{5F3BAC4A-175E-5FCD-D837-1D0621E4AA50}"/>
              </a:ext>
            </a:extLst>
          </p:cNvPr>
          <p:cNvSpPr txBox="1">
            <a:spLocks/>
          </p:cNvSpPr>
          <p:nvPr/>
        </p:nvSpPr>
        <p:spPr>
          <a:xfrm>
            <a:off x="462425" y="444307"/>
            <a:ext cx="6547976" cy="923330"/>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000" b="1" i="0" u="none" strike="noStrike" kern="1200" cap="none" spc="-70" normalizeH="0" baseline="0" noProof="0" dirty="0">
                <a:ln>
                  <a:noFill/>
                </a:ln>
                <a:solidFill>
                  <a:srgbClr val="FFFFFF"/>
                </a:solidFill>
                <a:effectLst/>
                <a:uLnTx/>
                <a:uFillTx/>
                <a:latin typeface="Trebuchet MS"/>
                <a:ea typeface="+mj-ea"/>
                <a:cs typeface="+mj-cs"/>
              </a:rPr>
              <a:t>Metric 8: “Product Performance : Revenue vs Customer Rating”</a:t>
            </a:r>
          </a:p>
        </p:txBody>
      </p:sp>
      <p:pic>
        <p:nvPicPr>
          <p:cNvPr id="10" name="Picture 9">
            <a:extLst>
              <a:ext uri="{FF2B5EF4-FFF2-40B4-BE49-F238E27FC236}">
                <a16:creationId xmlns:a16="http://schemas.microsoft.com/office/drawing/2014/main" id="{B266E8CE-EDDE-7830-390A-6797048BB9F6}"/>
              </a:ext>
            </a:extLst>
          </p:cNvPr>
          <p:cNvPicPr>
            <a:picLocks noChangeAspect="1"/>
          </p:cNvPicPr>
          <p:nvPr/>
        </p:nvPicPr>
        <p:blipFill>
          <a:blip r:embed="rId2"/>
          <a:stretch>
            <a:fillRect/>
          </a:stretch>
        </p:blipFill>
        <p:spPr>
          <a:xfrm>
            <a:off x="1782617" y="1696847"/>
            <a:ext cx="8626764" cy="2186371"/>
          </a:xfrm>
          <a:prstGeom prst="roundRect">
            <a:avLst>
              <a:gd name="adj" fmla="val 4326"/>
            </a:avLst>
          </a:prstGeom>
          <a:solidFill>
            <a:srgbClr val="FFFFFF">
              <a:shade val="85000"/>
            </a:srgbClr>
          </a:solidFill>
          <a:ln>
            <a:noFill/>
          </a:ln>
          <a:effectLst>
            <a:reflection blurRad="12700" stA="38000" endPos="28000" dist="5000" dir="5400000" sy="-100000" algn="bl" rotWithShape="0"/>
          </a:effectLst>
        </p:spPr>
      </p:pic>
      <p:sp>
        <p:nvSpPr>
          <p:cNvPr id="11" name="TextBox 10">
            <a:extLst>
              <a:ext uri="{FF2B5EF4-FFF2-40B4-BE49-F238E27FC236}">
                <a16:creationId xmlns:a16="http://schemas.microsoft.com/office/drawing/2014/main" id="{7CD54A8C-546B-8D4F-3EC2-14E024811728}"/>
              </a:ext>
            </a:extLst>
          </p:cNvPr>
          <p:cNvSpPr txBox="1"/>
          <p:nvPr/>
        </p:nvSpPr>
        <p:spPr>
          <a:xfrm>
            <a:off x="528236" y="4628589"/>
            <a:ext cx="11135526" cy="178510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0000"/>
                </a:solidFill>
                <a:effectLst/>
                <a:uLnTx/>
                <a:uFillTx/>
                <a:latin typeface="Arial"/>
                <a:ea typeface="+mn-ea"/>
                <a:cs typeface="+mn-cs"/>
              </a:rPr>
              <a:t>INSIGHTS: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Some </a:t>
            </a:r>
            <a:r>
              <a:rPr kumimoji="0" lang="en-US" sz="1800" b="1" i="0" u="none" strike="noStrike" kern="1200" cap="none" spc="0" normalizeH="0" baseline="0" noProof="0" dirty="0">
                <a:ln>
                  <a:noFill/>
                </a:ln>
                <a:solidFill>
                  <a:srgbClr val="FFFFFF"/>
                </a:solidFill>
                <a:effectLst/>
                <a:uLnTx/>
                <a:uFillTx/>
                <a:latin typeface="Arial"/>
                <a:ea typeface="+mn-ea"/>
                <a:cs typeface="+mn-cs"/>
              </a:rPr>
              <a:t>high-revenue products</a:t>
            </a:r>
            <a:r>
              <a:rPr kumimoji="0" lang="en-US" sz="1800" b="0" i="0" u="none" strike="noStrike" kern="1200" cap="none" spc="0" normalizeH="0" baseline="0" noProof="0" dirty="0">
                <a:ln>
                  <a:noFill/>
                </a:ln>
                <a:solidFill>
                  <a:srgbClr val="FFFFFF"/>
                </a:solidFill>
                <a:effectLst/>
                <a:uLnTx/>
                <a:uFillTx/>
                <a:latin typeface="Arial"/>
                <a:ea typeface="+mn-ea"/>
                <a:cs typeface="+mn-cs"/>
              </a:rPr>
              <a:t> (e.g., 12M–14M range) have </a:t>
            </a:r>
            <a:r>
              <a:rPr kumimoji="0" lang="en-US" sz="1800" b="1" i="0" u="none" strike="noStrike" kern="1200" cap="none" spc="0" normalizeH="0" baseline="0" noProof="0" dirty="0">
                <a:ln>
                  <a:noFill/>
                </a:ln>
                <a:solidFill>
                  <a:srgbClr val="FFFFFF"/>
                </a:solidFill>
                <a:effectLst/>
                <a:uLnTx/>
                <a:uFillTx/>
                <a:latin typeface="Arial"/>
                <a:ea typeface="+mn-ea"/>
                <a:cs typeface="+mn-cs"/>
              </a:rPr>
              <a:t>relatively low average ratings (~2.7)</a:t>
            </a:r>
            <a:r>
              <a:rPr kumimoji="0" lang="en-US" sz="1800" b="0" i="0" u="none" strike="noStrike" kern="1200" cap="none" spc="0" normalizeH="0" baseline="0" noProof="0" dirty="0">
                <a:ln>
                  <a:noFill/>
                </a:ln>
                <a:solidFill>
                  <a:srgbClr val="FFFFFF"/>
                </a:solidFill>
                <a:effectLst/>
                <a:uLnTx/>
                <a:uFillTx/>
                <a:latin typeface="Arial"/>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Most products cluster below </a:t>
            </a:r>
            <a:r>
              <a:rPr kumimoji="0" lang="en-US" sz="1800" b="1" i="0" u="none" strike="noStrike" kern="1200" cap="none" spc="0" normalizeH="0" baseline="0" noProof="0" dirty="0">
                <a:ln>
                  <a:noFill/>
                </a:ln>
                <a:solidFill>
                  <a:srgbClr val="FFFFFF"/>
                </a:solidFill>
                <a:effectLst/>
                <a:uLnTx/>
                <a:uFillTx/>
                <a:latin typeface="Arial"/>
                <a:ea typeface="+mn-ea"/>
                <a:cs typeface="+mn-cs"/>
              </a:rPr>
              <a:t>3.0 in ratings</a:t>
            </a:r>
            <a:r>
              <a:rPr kumimoji="0" lang="en-US" sz="1800" b="0" i="0" u="none" strike="noStrike" kern="1200" cap="none" spc="0" normalizeH="0" baseline="0" noProof="0" dirty="0">
                <a:ln>
                  <a:noFill/>
                </a:ln>
                <a:solidFill>
                  <a:srgbClr val="FFFFFF"/>
                </a:solidFill>
                <a:effectLst/>
                <a:uLnTx/>
                <a:uFillTx/>
                <a:latin typeface="Arial"/>
                <a:ea typeface="+mn-ea"/>
                <a:cs typeface="+mn-cs"/>
              </a:rPr>
              <a:t>, showing a </a:t>
            </a:r>
            <a:r>
              <a:rPr kumimoji="0" lang="en-US" sz="1800" b="1" i="0" u="none" strike="noStrike" kern="1200" cap="none" spc="0" normalizeH="0" baseline="0" noProof="0" dirty="0">
                <a:ln>
                  <a:noFill/>
                </a:ln>
                <a:solidFill>
                  <a:srgbClr val="FFFFFF"/>
                </a:solidFill>
                <a:effectLst/>
                <a:uLnTx/>
                <a:uFillTx/>
                <a:latin typeface="Arial"/>
                <a:ea typeface="+mn-ea"/>
                <a:cs typeface="+mn-cs"/>
              </a:rPr>
              <a:t>general satisfaction gap</a:t>
            </a:r>
            <a:r>
              <a:rPr kumimoji="0" lang="en-US" sz="1800" b="0" i="0" u="none" strike="noStrike" kern="1200" cap="none" spc="0" normalizeH="0" baseline="0" noProof="0" dirty="0">
                <a:ln>
                  <a:noFill/>
                </a:ln>
                <a:solidFill>
                  <a:srgbClr val="FFFFFF"/>
                </a:solidFill>
                <a:effectLst/>
                <a:uLnTx/>
                <a:uFillTx/>
                <a:latin typeface="Arial"/>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A few </a:t>
            </a:r>
            <a:r>
              <a:rPr kumimoji="0" lang="en-US" sz="1800" b="1" i="0" u="none" strike="noStrike" kern="1200" cap="none" spc="0" normalizeH="0" baseline="0" noProof="0" dirty="0">
                <a:ln>
                  <a:noFill/>
                </a:ln>
                <a:solidFill>
                  <a:srgbClr val="FFFFFF"/>
                </a:solidFill>
                <a:effectLst/>
                <a:uLnTx/>
                <a:uFillTx/>
                <a:latin typeface="Arial"/>
                <a:ea typeface="+mn-ea"/>
                <a:cs typeface="+mn-cs"/>
              </a:rPr>
              <a:t>moderate-revenue products</a:t>
            </a:r>
            <a:r>
              <a:rPr kumimoji="0" lang="en-US" sz="1800" b="0" i="0" u="none" strike="noStrike" kern="1200" cap="none" spc="0" normalizeH="0" baseline="0" noProof="0" dirty="0">
                <a:ln>
                  <a:noFill/>
                </a:ln>
                <a:solidFill>
                  <a:srgbClr val="FFFFFF"/>
                </a:solidFill>
                <a:effectLst/>
                <a:uLnTx/>
                <a:uFillTx/>
                <a:latin typeface="Arial"/>
                <a:ea typeface="+mn-ea"/>
                <a:cs typeface="+mn-cs"/>
              </a:rPr>
              <a:t> (~5M–6M) show </a:t>
            </a:r>
            <a:r>
              <a:rPr kumimoji="0" lang="en-US" sz="1800" b="1" i="0" u="none" strike="noStrike" kern="1200" cap="none" spc="0" normalizeH="0" baseline="0" noProof="0" dirty="0">
                <a:ln>
                  <a:noFill/>
                </a:ln>
                <a:solidFill>
                  <a:srgbClr val="FFFFFF"/>
                </a:solidFill>
                <a:effectLst/>
                <a:uLnTx/>
                <a:uFillTx/>
                <a:latin typeface="Arial"/>
                <a:ea typeface="+mn-ea"/>
                <a:cs typeface="+mn-cs"/>
              </a:rPr>
              <a:t>slightly better ratings (~2.8)</a:t>
            </a:r>
            <a:r>
              <a:rPr kumimoji="0" lang="en-US" sz="1800" b="0" i="0" u="none" strike="noStrike" kern="1200" cap="none" spc="0" normalizeH="0" baseline="0" noProof="0" dirty="0">
                <a:ln>
                  <a:noFill/>
                </a:ln>
                <a:solidFill>
                  <a:srgbClr val="FFFFFF"/>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518276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a:extLst>
            <a:ext uri="{FF2B5EF4-FFF2-40B4-BE49-F238E27FC236}">
              <a16:creationId xmlns:a16="http://schemas.microsoft.com/office/drawing/2014/main" id="{1E03D04F-F3D2-66C8-1441-A7959F9CDD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DD3187-2913-D832-B18A-479A8C7FDA02}"/>
              </a:ext>
            </a:extLst>
          </p:cNvPr>
          <p:cNvSpPr>
            <a:spLocks noGrp="1"/>
          </p:cNvSpPr>
          <p:nvPr>
            <p:ph type="ctrTitle"/>
          </p:nvPr>
        </p:nvSpPr>
        <p:spPr>
          <a:xfrm>
            <a:off x="4831978" y="732563"/>
            <a:ext cx="4329952" cy="1030586"/>
          </a:xfrm>
        </p:spPr>
        <p:txBody>
          <a:bodyPr/>
          <a:lstStyle/>
          <a:p>
            <a:r>
              <a:rPr lang="en-US" dirty="0">
                <a:solidFill>
                  <a:schemeClr val="accent4">
                    <a:lumMod val="40000"/>
                    <a:lumOff val="60000"/>
                  </a:schemeClr>
                </a:solidFill>
              </a:rPr>
              <a:t>Dashboard</a:t>
            </a:r>
          </a:p>
        </p:txBody>
      </p:sp>
      <p:pic>
        <p:nvPicPr>
          <p:cNvPr id="5" name="Picture 4">
            <a:extLst>
              <a:ext uri="{FF2B5EF4-FFF2-40B4-BE49-F238E27FC236}">
                <a16:creationId xmlns:a16="http://schemas.microsoft.com/office/drawing/2014/main" id="{351B5C7C-7403-6667-8E3A-AA1A620DF7B4}"/>
              </a:ext>
            </a:extLst>
          </p:cNvPr>
          <p:cNvPicPr>
            <a:picLocks noChangeAspect="1"/>
          </p:cNvPicPr>
          <p:nvPr/>
        </p:nvPicPr>
        <p:blipFill>
          <a:blip r:embed="rId2"/>
          <a:stretch>
            <a:fillRect/>
          </a:stretch>
        </p:blipFill>
        <p:spPr>
          <a:xfrm>
            <a:off x="3137554" y="1895834"/>
            <a:ext cx="7331393" cy="4113323"/>
          </a:xfrm>
          <a:prstGeom prst="roundRect">
            <a:avLst>
              <a:gd name="adj" fmla="val 3382"/>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61652918"/>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a:extLst>
            <a:ext uri="{FF2B5EF4-FFF2-40B4-BE49-F238E27FC236}">
              <a16:creationId xmlns:a16="http://schemas.microsoft.com/office/drawing/2014/main" id="{6ECBFE5F-45E1-11FE-D4F0-DEA0EE56C4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76E53-39F6-D58C-3808-1BFBE0471709}"/>
              </a:ext>
            </a:extLst>
          </p:cNvPr>
          <p:cNvSpPr>
            <a:spLocks noGrp="1"/>
          </p:cNvSpPr>
          <p:nvPr>
            <p:ph type="ctrTitle"/>
          </p:nvPr>
        </p:nvSpPr>
        <p:spPr>
          <a:xfrm>
            <a:off x="4831978" y="732563"/>
            <a:ext cx="4329952" cy="1030586"/>
          </a:xfrm>
        </p:spPr>
        <p:txBody>
          <a:bodyPr/>
          <a:lstStyle/>
          <a:p>
            <a:r>
              <a:rPr lang="en-US" dirty="0">
                <a:solidFill>
                  <a:schemeClr val="accent4">
                    <a:lumMod val="40000"/>
                    <a:lumOff val="60000"/>
                  </a:schemeClr>
                </a:solidFill>
              </a:rPr>
              <a:t>Dashboard</a:t>
            </a:r>
          </a:p>
        </p:txBody>
      </p:sp>
      <p:pic>
        <p:nvPicPr>
          <p:cNvPr id="4" name="Picture 3">
            <a:extLst>
              <a:ext uri="{FF2B5EF4-FFF2-40B4-BE49-F238E27FC236}">
                <a16:creationId xmlns:a16="http://schemas.microsoft.com/office/drawing/2014/main" id="{CDD37F70-D21A-9A1E-E807-859DD7954AAC}"/>
              </a:ext>
            </a:extLst>
          </p:cNvPr>
          <p:cNvPicPr>
            <a:picLocks noChangeAspect="1"/>
          </p:cNvPicPr>
          <p:nvPr/>
        </p:nvPicPr>
        <p:blipFill>
          <a:blip r:embed="rId2"/>
          <a:stretch>
            <a:fillRect/>
          </a:stretch>
        </p:blipFill>
        <p:spPr>
          <a:xfrm>
            <a:off x="3319930" y="1763149"/>
            <a:ext cx="7018388" cy="3960277"/>
          </a:xfrm>
          <a:prstGeom prst="roundRect">
            <a:avLst>
              <a:gd name="adj" fmla="val 3958"/>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147185122"/>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a:extLst>
            <a:ext uri="{FF2B5EF4-FFF2-40B4-BE49-F238E27FC236}">
              <a16:creationId xmlns:a16="http://schemas.microsoft.com/office/drawing/2014/main" id="{5CD4B972-E7F3-21AC-1EFB-7389CD2502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1572C6-3EBF-EE8C-9D16-A6B3C0F149CE}"/>
              </a:ext>
            </a:extLst>
          </p:cNvPr>
          <p:cNvSpPr>
            <a:spLocks noGrp="1"/>
          </p:cNvSpPr>
          <p:nvPr>
            <p:ph type="ctrTitle"/>
          </p:nvPr>
        </p:nvSpPr>
        <p:spPr>
          <a:xfrm>
            <a:off x="4831978" y="732563"/>
            <a:ext cx="4329952" cy="1030586"/>
          </a:xfrm>
        </p:spPr>
        <p:txBody>
          <a:bodyPr/>
          <a:lstStyle/>
          <a:p>
            <a:r>
              <a:rPr lang="en-US" dirty="0">
                <a:solidFill>
                  <a:schemeClr val="accent4">
                    <a:lumMod val="40000"/>
                    <a:lumOff val="60000"/>
                  </a:schemeClr>
                </a:solidFill>
              </a:rPr>
              <a:t>Dashboard</a:t>
            </a:r>
          </a:p>
        </p:txBody>
      </p:sp>
      <p:pic>
        <p:nvPicPr>
          <p:cNvPr id="5" name="Picture 4">
            <a:extLst>
              <a:ext uri="{FF2B5EF4-FFF2-40B4-BE49-F238E27FC236}">
                <a16:creationId xmlns:a16="http://schemas.microsoft.com/office/drawing/2014/main" id="{2732DB43-6224-116A-6B90-BCAD547E7938}"/>
              </a:ext>
            </a:extLst>
          </p:cNvPr>
          <p:cNvPicPr>
            <a:picLocks noChangeAspect="1"/>
          </p:cNvPicPr>
          <p:nvPr/>
        </p:nvPicPr>
        <p:blipFill>
          <a:blip r:embed="rId2"/>
          <a:stretch>
            <a:fillRect/>
          </a:stretch>
        </p:blipFill>
        <p:spPr>
          <a:xfrm>
            <a:off x="3275044" y="1763149"/>
            <a:ext cx="7007291" cy="3963861"/>
          </a:xfrm>
          <a:prstGeom prst="roundRect">
            <a:avLst>
              <a:gd name="adj" fmla="val 4357"/>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578094914"/>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D51A0-649B-F549-9584-388A6FD41DD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E6AD24D-4E86-0BAA-248A-11B63E2CBFC5}"/>
              </a:ext>
            </a:extLst>
          </p:cNvPr>
          <p:cNvSpPr>
            <a:spLocks noGrp="1"/>
          </p:cNvSpPr>
          <p:nvPr>
            <p:ph type="title"/>
          </p:nvPr>
        </p:nvSpPr>
        <p:spPr>
          <a:xfrm>
            <a:off x="111621" y="796851"/>
            <a:ext cx="8274422" cy="859055"/>
          </a:xfrm>
        </p:spPr>
        <p:txBody>
          <a:bodyPr/>
          <a:lstStyle/>
          <a:p>
            <a:pPr algn="ctr"/>
            <a:r>
              <a:rPr lang="en-US" dirty="0"/>
              <a:t>Conclusion</a:t>
            </a:r>
          </a:p>
        </p:txBody>
      </p:sp>
      <p:sp>
        <p:nvSpPr>
          <p:cNvPr id="5" name="Text Placeholder 4">
            <a:extLst>
              <a:ext uri="{FF2B5EF4-FFF2-40B4-BE49-F238E27FC236}">
                <a16:creationId xmlns:a16="http://schemas.microsoft.com/office/drawing/2014/main" id="{E3F870A2-07D7-140C-48C8-D04AFA9DEC44}"/>
              </a:ext>
            </a:extLst>
          </p:cNvPr>
          <p:cNvSpPr>
            <a:spLocks noGrp="1"/>
          </p:cNvSpPr>
          <p:nvPr>
            <p:ph type="body" idx="1"/>
          </p:nvPr>
        </p:nvSpPr>
        <p:spPr>
          <a:xfrm>
            <a:off x="804995" y="1782203"/>
            <a:ext cx="9094785" cy="4715434"/>
          </a:xfrm>
        </p:spPr>
        <p:txBody>
          <a:bodyPr>
            <a:noAutofit/>
          </a:bodyPr>
          <a:lstStyle/>
          <a:p>
            <a:pPr marL="285750" indent="-285750" algn="just">
              <a:lnSpc>
                <a:spcPct val="150000"/>
              </a:lnSpc>
              <a:buFont typeface="Wingdings" panose="05000000000000000000" pitchFamily="2" charset="2"/>
              <a:buChar char="q"/>
            </a:pPr>
            <a:r>
              <a:rPr lang="en-US" sz="2000" spc="0" dirty="0"/>
              <a:t>Sales peaked in 2020 – focus on what worked that year.</a:t>
            </a:r>
          </a:p>
          <a:p>
            <a:pPr marL="285750" indent="-285750" algn="just">
              <a:lnSpc>
                <a:spcPct val="150000"/>
              </a:lnSpc>
              <a:buFont typeface="Wingdings" panose="05000000000000000000" pitchFamily="2" charset="2"/>
              <a:buChar char="q"/>
            </a:pPr>
            <a:r>
              <a:rPr lang="en-US" sz="2000" spc="0" dirty="0"/>
              <a:t>Top products drive most revenue – invest more in them.</a:t>
            </a:r>
          </a:p>
          <a:p>
            <a:pPr marL="285750" indent="-285750" algn="just">
              <a:lnSpc>
                <a:spcPct val="150000"/>
              </a:lnSpc>
              <a:buFont typeface="Wingdings" panose="05000000000000000000" pitchFamily="2" charset="2"/>
              <a:buChar char="q"/>
            </a:pPr>
            <a:r>
              <a:rPr lang="en-US" sz="2000" spc="0" dirty="0"/>
              <a:t>Greater Accra and Ashanti lead in sales – target other regions more.</a:t>
            </a:r>
          </a:p>
          <a:p>
            <a:pPr marL="285750" indent="-285750" algn="just">
              <a:lnSpc>
                <a:spcPct val="150000"/>
              </a:lnSpc>
              <a:buFont typeface="Wingdings" panose="05000000000000000000" pitchFamily="2" charset="2"/>
              <a:buChar char="q"/>
            </a:pPr>
            <a:r>
              <a:rPr lang="en-US" sz="2000" spc="0" dirty="0"/>
              <a:t>Sales dip in Sept – run offers and ads during low months.</a:t>
            </a:r>
          </a:p>
          <a:p>
            <a:pPr marL="285750" indent="-285750" algn="just">
              <a:lnSpc>
                <a:spcPct val="150000"/>
              </a:lnSpc>
              <a:buFont typeface="Wingdings" panose="05000000000000000000" pitchFamily="2" charset="2"/>
              <a:buChar char="q"/>
            </a:pPr>
            <a:r>
              <a:rPr lang="en-US" sz="2000" spc="0" dirty="0"/>
              <a:t>Express delivery is fastest – promote it to boost satisfaction.</a:t>
            </a:r>
          </a:p>
          <a:p>
            <a:pPr marL="285750" indent="-285750" algn="just">
              <a:lnSpc>
                <a:spcPct val="150000"/>
              </a:lnSpc>
              <a:buFont typeface="Wingdings" panose="05000000000000000000" pitchFamily="2" charset="2"/>
              <a:buChar char="q"/>
            </a:pPr>
            <a:r>
              <a:rPr lang="en-US" sz="2000" spc="0" dirty="0"/>
              <a:t>Long wait times link to low ratings – improve delivery efficiency.</a:t>
            </a:r>
          </a:p>
        </p:txBody>
      </p:sp>
    </p:spTree>
    <p:extLst>
      <p:ext uri="{BB962C8B-B14F-4D97-AF65-F5344CB8AC3E}">
        <p14:creationId xmlns:p14="http://schemas.microsoft.com/office/powerpoint/2010/main" val="897408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a:extLst>
            <a:ext uri="{FF2B5EF4-FFF2-40B4-BE49-F238E27FC236}">
              <a16:creationId xmlns:a16="http://schemas.microsoft.com/office/drawing/2014/main" id="{20096838-52DF-CF60-ECA1-8374FEE16B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84C416-3052-86C8-3645-BEE18E7D86B3}"/>
              </a:ext>
            </a:extLst>
          </p:cNvPr>
          <p:cNvSpPr>
            <a:spLocks noGrp="1"/>
          </p:cNvSpPr>
          <p:nvPr>
            <p:ph type="ctrTitle"/>
          </p:nvPr>
        </p:nvSpPr>
        <p:spPr>
          <a:xfrm>
            <a:off x="3569349" y="1040473"/>
            <a:ext cx="6725627" cy="1030586"/>
          </a:xfrm>
        </p:spPr>
        <p:txBody>
          <a:bodyPr/>
          <a:lstStyle/>
          <a:p>
            <a:pPr algn="ctr"/>
            <a:r>
              <a:rPr lang="en-US" sz="5400" dirty="0">
                <a:solidFill>
                  <a:schemeClr val="accent4">
                    <a:lumMod val="40000"/>
                    <a:lumOff val="60000"/>
                  </a:schemeClr>
                </a:solidFill>
              </a:rPr>
              <a:t>Recommendations</a:t>
            </a:r>
            <a:endParaRPr lang="en-US" dirty="0">
              <a:solidFill>
                <a:schemeClr val="accent4">
                  <a:lumMod val="40000"/>
                  <a:lumOff val="60000"/>
                </a:schemeClr>
              </a:solidFill>
            </a:endParaRPr>
          </a:p>
        </p:txBody>
      </p:sp>
      <p:sp>
        <p:nvSpPr>
          <p:cNvPr id="4" name="Text Placeholder 4">
            <a:extLst>
              <a:ext uri="{FF2B5EF4-FFF2-40B4-BE49-F238E27FC236}">
                <a16:creationId xmlns:a16="http://schemas.microsoft.com/office/drawing/2014/main" id="{615A897E-11E6-0CF4-20F2-7A623FCA4940}"/>
              </a:ext>
            </a:extLst>
          </p:cNvPr>
          <p:cNvSpPr txBox="1">
            <a:spLocks/>
          </p:cNvSpPr>
          <p:nvPr/>
        </p:nvSpPr>
        <p:spPr>
          <a:xfrm>
            <a:off x="2470785" y="2397314"/>
            <a:ext cx="10004610" cy="4327710"/>
          </a:xfrm>
          <a:prstGeom prst="rect">
            <a:avLst/>
          </a:prstGeom>
        </p:spPr>
        <p:txBody>
          <a:bodyPr vert="horz" lIns="91440" tIns="45720" rIns="91440" bIns="45720" rtlCol="0">
            <a:noAutofit/>
          </a:bodyPr>
          <a:lstStyle>
            <a:lvl1pPr marL="285750" indent="-285750" algn="just">
              <a:lnSpc>
                <a:spcPct val="150000"/>
              </a:lnSpc>
              <a:spcBef>
                <a:spcPts val="1000"/>
              </a:spcBef>
              <a:buClr>
                <a:schemeClr val="accent2"/>
              </a:buClr>
              <a:buFont typeface="Wingdings" panose="05000000000000000000" pitchFamily="2" charset="2"/>
              <a:buChar char="q"/>
              <a:defRPr lang="en-US" sz="2000" spc="0">
                <a:solidFill>
                  <a:schemeClr val="accent1">
                    <a:lumMod val="20000"/>
                    <a:lumOff val="80000"/>
                  </a:schemeClr>
                </a:solidFill>
                <a:cs typeface="Arial" panose="020B0604020202020204" pitchFamily="34" charset="0"/>
              </a:defRPr>
            </a:lvl1pPr>
            <a:lvl2pPr marL="685800" indent="-228600">
              <a:lnSpc>
                <a:spcPct val="90000"/>
              </a:lnSpc>
              <a:spcBef>
                <a:spcPts val="500"/>
              </a:spcBef>
              <a:buClr>
                <a:schemeClr val="accent2"/>
              </a:buClr>
              <a:buFont typeface="Arial" panose="020B0604020202020204" pitchFamily="34" charset="0"/>
              <a:buChar char="•"/>
              <a:defRPr sz="2400"/>
            </a:lvl2pPr>
            <a:lvl3pPr marL="1143000" indent="-228600">
              <a:lnSpc>
                <a:spcPct val="90000"/>
              </a:lnSpc>
              <a:spcBef>
                <a:spcPts val="500"/>
              </a:spcBef>
              <a:buClr>
                <a:schemeClr val="accent2"/>
              </a:buClr>
              <a:buFont typeface="Arial" panose="020B0604020202020204" pitchFamily="34" charset="0"/>
              <a:buChar char="•"/>
              <a:defRPr sz="2000"/>
            </a:lvl3pPr>
            <a:lvl4pPr marL="1600200" indent="-228600">
              <a:lnSpc>
                <a:spcPct val="90000"/>
              </a:lnSpc>
              <a:spcBef>
                <a:spcPts val="500"/>
              </a:spcBef>
              <a:buClr>
                <a:schemeClr val="accent2"/>
              </a:buClr>
              <a:buFont typeface="Arial" panose="020B0604020202020204" pitchFamily="34" charset="0"/>
              <a:buChar char="•"/>
            </a:lvl4pPr>
            <a:lvl5pPr marL="2057400" indent="-228600">
              <a:lnSpc>
                <a:spcPct val="90000"/>
              </a:lnSpc>
              <a:spcBef>
                <a:spcPts val="500"/>
              </a:spcBef>
              <a:buClr>
                <a:schemeClr val="accent2"/>
              </a:buClr>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285750" marR="0" lvl="0" indent="-285750" algn="just" defTabSz="914400" rtl="0" eaLnBrk="1" fontAlgn="auto" latinLnBrk="0" hangingPunct="1">
              <a:lnSpc>
                <a:spcPct val="150000"/>
              </a:lnSpc>
              <a:spcBef>
                <a:spcPts val="1000"/>
              </a:spcBef>
              <a:spcAft>
                <a:spcPts val="0"/>
              </a:spcAft>
              <a:buClr>
                <a:srgbClr val="47C3D3"/>
              </a:buClr>
              <a:buSzTx/>
              <a:buFont typeface="Wingdings" panose="05000000000000000000" pitchFamily="2" charset="2"/>
              <a:buChar char="q"/>
              <a:tabLst/>
              <a:defRPr/>
            </a:pPr>
            <a:r>
              <a:rPr kumimoji="0" lang="en-US" sz="2000" b="0" i="0" u="none" strike="noStrike" kern="1200" cap="none" spc="0" normalizeH="0" baseline="0" noProof="0" dirty="0">
                <a:ln>
                  <a:noFill/>
                </a:ln>
                <a:solidFill>
                  <a:srgbClr val="0065A4">
                    <a:lumMod val="20000"/>
                    <a:lumOff val="80000"/>
                  </a:srgbClr>
                </a:solidFill>
                <a:effectLst/>
                <a:uLnTx/>
                <a:uFillTx/>
                <a:latin typeface="Arial"/>
                <a:ea typeface="+mn-ea"/>
                <a:cs typeface="Arial" panose="020B0604020202020204" pitchFamily="34" charset="0"/>
              </a:rPr>
              <a:t>Focus more on top-selling products like Canon cameras and Amazon tablets.</a:t>
            </a:r>
          </a:p>
          <a:p>
            <a:pPr marL="285750" marR="0" lvl="0" indent="-285750" algn="just" defTabSz="914400" rtl="0" eaLnBrk="1" fontAlgn="auto" latinLnBrk="0" hangingPunct="1">
              <a:lnSpc>
                <a:spcPct val="150000"/>
              </a:lnSpc>
              <a:spcBef>
                <a:spcPts val="1000"/>
              </a:spcBef>
              <a:spcAft>
                <a:spcPts val="0"/>
              </a:spcAft>
              <a:buClr>
                <a:srgbClr val="47C3D3"/>
              </a:buClr>
              <a:buSzTx/>
              <a:buFont typeface="Wingdings" panose="05000000000000000000" pitchFamily="2" charset="2"/>
              <a:buChar char="q"/>
              <a:tabLst/>
              <a:defRPr/>
            </a:pPr>
            <a:r>
              <a:rPr kumimoji="0" lang="en-US" sz="2000" b="0" i="0" u="none" strike="noStrike" kern="1200" cap="none" spc="0" normalizeH="0" baseline="0" noProof="0" dirty="0">
                <a:ln>
                  <a:noFill/>
                </a:ln>
                <a:solidFill>
                  <a:srgbClr val="0065A4">
                    <a:lumMod val="20000"/>
                    <a:lumOff val="80000"/>
                  </a:srgbClr>
                </a:solidFill>
                <a:effectLst/>
                <a:uLnTx/>
                <a:uFillTx/>
                <a:latin typeface="Arial"/>
                <a:ea typeface="+mn-ea"/>
                <a:cs typeface="Arial" panose="020B0604020202020204" pitchFamily="34" charset="0"/>
              </a:rPr>
              <a:t>Run offers in locations with low sales to boost orders.</a:t>
            </a:r>
          </a:p>
          <a:p>
            <a:pPr marL="285750" marR="0" lvl="0" indent="-285750" algn="just" defTabSz="914400" rtl="0" eaLnBrk="1" fontAlgn="auto" latinLnBrk="0" hangingPunct="1">
              <a:lnSpc>
                <a:spcPct val="150000"/>
              </a:lnSpc>
              <a:spcBef>
                <a:spcPts val="1000"/>
              </a:spcBef>
              <a:spcAft>
                <a:spcPts val="0"/>
              </a:spcAft>
              <a:buClr>
                <a:srgbClr val="47C3D3"/>
              </a:buClr>
              <a:buSzTx/>
              <a:buFont typeface="Wingdings" panose="05000000000000000000" pitchFamily="2" charset="2"/>
              <a:buChar char="q"/>
              <a:tabLst/>
              <a:defRPr/>
            </a:pPr>
            <a:r>
              <a:rPr kumimoji="0" lang="en-US" sz="2000" b="0" i="0" u="none" strike="noStrike" kern="1200" cap="none" spc="0" normalizeH="0" baseline="0" noProof="0" dirty="0">
                <a:ln>
                  <a:noFill/>
                </a:ln>
                <a:solidFill>
                  <a:srgbClr val="0065A4">
                    <a:lumMod val="20000"/>
                    <a:lumOff val="80000"/>
                  </a:srgbClr>
                </a:solidFill>
                <a:effectLst/>
                <a:uLnTx/>
                <a:uFillTx/>
                <a:latin typeface="Arial"/>
                <a:ea typeface="+mn-ea"/>
                <a:cs typeface="Arial" panose="020B0604020202020204" pitchFamily="34" charset="0"/>
              </a:rPr>
              <a:t>Invest more in high-sales areas like Greater Accra and Ashanti.</a:t>
            </a:r>
          </a:p>
          <a:p>
            <a:pPr marL="285750" marR="0" lvl="0" indent="-285750" algn="just" defTabSz="914400" rtl="0" eaLnBrk="1" fontAlgn="auto" latinLnBrk="0" hangingPunct="1">
              <a:lnSpc>
                <a:spcPct val="150000"/>
              </a:lnSpc>
              <a:spcBef>
                <a:spcPts val="1000"/>
              </a:spcBef>
              <a:spcAft>
                <a:spcPts val="0"/>
              </a:spcAft>
              <a:buClr>
                <a:srgbClr val="47C3D3"/>
              </a:buClr>
              <a:buSzTx/>
              <a:buFont typeface="Wingdings" panose="05000000000000000000" pitchFamily="2" charset="2"/>
              <a:buChar char="q"/>
              <a:tabLst/>
              <a:defRPr/>
            </a:pPr>
            <a:r>
              <a:rPr kumimoji="0" lang="en-US" sz="2000" b="0" i="0" u="none" strike="noStrike" kern="1200" cap="none" spc="0" normalizeH="0" baseline="0" noProof="0" dirty="0">
                <a:ln>
                  <a:noFill/>
                </a:ln>
                <a:solidFill>
                  <a:srgbClr val="0065A4">
                    <a:lumMod val="20000"/>
                    <a:lumOff val="80000"/>
                  </a:srgbClr>
                </a:solidFill>
                <a:effectLst/>
                <a:uLnTx/>
                <a:uFillTx/>
                <a:latin typeface="Arial"/>
                <a:ea typeface="+mn-ea"/>
                <a:cs typeface="Arial" panose="020B0604020202020204" pitchFamily="34" charset="0"/>
              </a:rPr>
              <a:t>Give discounts during slow months like June to September.</a:t>
            </a:r>
          </a:p>
          <a:p>
            <a:pPr marL="285750" marR="0" lvl="0" indent="-285750" algn="just" defTabSz="914400" rtl="0" eaLnBrk="1" fontAlgn="auto" latinLnBrk="0" hangingPunct="1">
              <a:lnSpc>
                <a:spcPct val="150000"/>
              </a:lnSpc>
              <a:spcBef>
                <a:spcPts val="1000"/>
              </a:spcBef>
              <a:spcAft>
                <a:spcPts val="0"/>
              </a:spcAft>
              <a:buClr>
                <a:srgbClr val="47C3D3"/>
              </a:buClr>
              <a:buSzTx/>
              <a:buFont typeface="Wingdings" panose="05000000000000000000" pitchFamily="2" charset="2"/>
              <a:buChar char="q"/>
              <a:tabLst/>
              <a:defRPr/>
            </a:pPr>
            <a:r>
              <a:rPr kumimoji="0" lang="en-US" sz="2000" b="0" i="0" u="none" strike="noStrike" kern="1200" cap="none" spc="0" normalizeH="0" baseline="0" noProof="0" dirty="0">
                <a:ln>
                  <a:noFill/>
                </a:ln>
                <a:solidFill>
                  <a:srgbClr val="0065A4">
                    <a:lumMod val="20000"/>
                    <a:lumOff val="80000"/>
                  </a:srgbClr>
                </a:solidFill>
                <a:effectLst/>
                <a:uLnTx/>
                <a:uFillTx/>
                <a:latin typeface="Arial"/>
                <a:ea typeface="+mn-ea"/>
                <a:cs typeface="Arial" panose="020B0604020202020204" pitchFamily="34" charset="0"/>
              </a:rPr>
              <a:t>Bundle cheap fast-selling items with big products to increase sales.</a:t>
            </a:r>
          </a:p>
          <a:p>
            <a:pPr marL="285750" marR="0" lvl="0" indent="-285750" algn="just" defTabSz="914400" rtl="0" eaLnBrk="1" fontAlgn="auto" latinLnBrk="0" hangingPunct="1">
              <a:lnSpc>
                <a:spcPct val="150000"/>
              </a:lnSpc>
              <a:spcBef>
                <a:spcPts val="1000"/>
              </a:spcBef>
              <a:spcAft>
                <a:spcPts val="0"/>
              </a:spcAft>
              <a:buClr>
                <a:srgbClr val="47C3D3"/>
              </a:buClr>
              <a:buSzTx/>
              <a:buFont typeface="Wingdings" panose="05000000000000000000" pitchFamily="2" charset="2"/>
              <a:buChar char="q"/>
              <a:tabLst/>
              <a:defRPr/>
            </a:pPr>
            <a:r>
              <a:rPr kumimoji="0" lang="en-US" sz="2000" b="0" i="0" u="none" strike="noStrike" kern="1200" cap="none" spc="0" normalizeH="0" baseline="0" noProof="0" dirty="0">
                <a:ln>
                  <a:noFill/>
                </a:ln>
                <a:solidFill>
                  <a:srgbClr val="0065A4">
                    <a:lumMod val="20000"/>
                    <a:lumOff val="80000"/>
                  </a:srgbClr>
                </a:solidFill>
                <a:effectLst/>
                <a:uLnTx/>
                <a:uFillTx/>
                <a:latin typeface="Arial"/>
                <a:ea typeface="+mn-ea"/>
                <a:cs typeface="Arial" panose="020B0604020202020204" pitchFamily="34" charset="0"/>
              </a:rPr>
              <a:t>Give discounts to loyal customers to keep them coming back.</a:t>
            </a:r>
          </a:p>
        </p:txBody>
      </p:sp>
    </p:spTree>
    <p:extLst>
      <p:ext uri="{BB962C8B-B14F-4D97-AF65-F5344CB8AC3E}">
        <p14:creationId xmlns:p14="http://schemas.microsoft.com/office/powerpoint/2010/main" val="4223470745"/>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4409440" y="2998695"/>
            <a:ext cx="7612231" cy="2317376"/>
          </a:xfrm>
        </p:spPr>
        <p:txBody>
          <a:bodyPr/>
          <a:lstStyle/>
          <a:p>
            <a:r>
              <a:rPr lang="en-US" sz="8800" dirty="0">
                <a:effectLst>
                  <a:glow rad="63500">
                    <a:schemeClr val="accent6">
                      <a:satMod val="175000"/>
                      <a:alpha val="40000"/>
                    </a:schemeClr>
                  </a:glow>
                  <a:outerShdw blurRad="127000" dist="38100" dir="10800000" algn="r" rotWithShape="0">
                    <a:prstClr val="black">
                      <a:alpha val="40000"/>
                    </a:prstClr>
                  </a:outerShdw>
                </a:effectLst>
              </a:rPr>
              <a:t>Thank You !!</a:t>
            </a:r>
            <a:endParaRPr lang="en-GB" sz="8800" dirty="0">
              <a:effectLst>
                <a:glow rad="63500">
                  <a:schemeClr val="accent6">
                    <a:satMod val="175000"/>
                    <a:alpha val="40000"/>
                  </a:schemeClr>
                </a:glow>
                <a:outerShdw blurRad="127000" dist="38100" dir="10800000" algn="r" rotWithShape="0">
                  <a:prstClr val="black">
                    <a:alpha val="40000"/>
                  </a:prstClr>
                </a:outerShdw>
              </a:effectLst>
            </a:endParaRPr>
          </a:p>
        </p:txBody>
      </p:sp>
    </p:spTree>
    <p:extLst>
      <p:ext uri="{BB962C8B-B14F-4D97-AF65-F5344CB8AC3E}">
        <p14:creationId xmlns:p14="http://schemas.microsoft.com/office/powerpoint/2010/main" val="44069682"/>
      </p:ext>
    </p:extLst>
  </p:cSld>
  <p:clrMapOvr>
    <a:masterClrMapping/>
  </p:clrMapOvr>
  <p:transition spd="slow">
    <p:wipe/>
  </p:transition>
</p:sld>
</file>

<file path=ppt/theme/theme1.xml><?xml version="1.0" encoding="utf-8"?>
<a:theme xmlns:a="http://schemas.openxmlformats.org/drawingml/2006/main" name="1_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docProps/app.xml><?xml version="1.0" encoding="utf-8"?>
<Properties xmlns="http://schemas.openxmlformats.org/officeDocument/2006/extended-properties" xmlns:vt="http://schemas.openxmlformats.org/officeDocument/2006/docPropsVTypes">
  <TotalTime>45</TotalTime>
  <Words>1090</Words>
  <Application>Microsoft Office PowerPoint</Application>
  <PresentationFormat>Widescreen</PresentationFormat>
  <Paragraphs>110</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Trade Gothic LT Pro</vt:lpstr>
      <vt:lpstr>Trebuchet MS</vt:lpstr>
      <vt:lpstr>Wingdings</vt:lpstr>
      <vt:lpstr>1_Office Theme</vt:lpstr>
      <vt:lpstr>Amazon  Ecommerce Analysis</vt:lpstr>
      <vt:lpstr>Agenda</vt:lpstr>
      <vt:lpstr>“More than 60% of Amazon's sales come from third-party sellers, not Amazon itself.” </vt:lpstr>
      <vt:lpstr>ABOUT AMAZON E-COMMERCE</vt:lpstr>
      <vt:lpstr>Problem Statement</vt:lpstr>
      <vt:lpstr>Data Overview</vt:lpstr>
      <vt:lpstr>DATA CLEANING STEPS UNDERTAKEN:</vt:lpstr>
      <vt:lpstr>WHY THIS DATA IS CRUCIAL FOR ANALYSIS ?</vt:lpstr>
      <vt:lpstr>PowerPoint Presentation</vt:lpstr>
      <vt:lpstr>Metric 2: “REVENUE BREAKDOWN BY YEAR AND BY PRODUCT”</vt:lpstr>
      <vt:lpstr>Metric 3: “TOTAL REVENUE BY LOCATION”</vt:lpstr>
      <vt:lpstr>PowerPoint Presentation</vt:lpstr>
      <vt:lpstr>Metric 5: “AVERAGE WAIT TIME BY PRODUCT CATEGORY”</vt:lpstr>
      <vt:lpstr>PowerPoint Presentation</vt:lpstr>
      <vt:lpstr>Metric 7: “AVERAGE SHIPPING COST BY PRODUCT CATEGORY”</vt:lpstr>
      <vt:lpstr>PowerPoint Presentation</vt:lpstr>
      <vt:lpstr>Dashboard</vt:lpstr>
      <vt:lpstr>Dashboard</vt:lpstr>
      <vt:lpstr>Dashboard</vt:lpstr>
      <vt:lpstr>Conclusion</vt:lpstr>
      <vt:lpstr>Recommendations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Abhishek Kunwar</dc:creator>
  <cp:lastModifiedBy>Abhishek Kunwar</cp:lastModifiedBy>
  <cp:revision>2</cp:revision>
  <dcterms:created xsi:type="dcterms:W3CDTF">2026-01-08T11:24:01Z</dcterms:created>
  <dcterms:modified xsi:type="dcterms:W3CDTF">2026-01-08T12:09:11Z</dcterms:modified>
</cp:coreProperties>
</file>